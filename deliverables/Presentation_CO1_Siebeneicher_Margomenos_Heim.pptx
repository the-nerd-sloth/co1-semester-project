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66" r:id="rId7"/>
    <p:sldId id="285" r:id="rId8"/>
    <p:sldId id="284" r:id="rId9"/>
    <p:sldId id="258" r:id="rId10"/>
    <p:sldId id="289" r:id="rId11"/>
    <p:sldId id="260" r:id="rId12"/>
    <p:sldId id="261" r:id="rId13"/>
    <p:sldId id="288" r:id="rId14"/>
    <p:sldId id="287" r:id="rId15"/>
    <p:sldId id="28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90" r:id="rId2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3E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96" dt="2026-10-29T09:31:32.079"/>
    <p1510:client id="{4915776B-A0E0-2F42-69D5-764A92249313}" v="5" dt="2026-10-29T08:02:54.176"/>
    <p1510:client id="{5014812E-ED41-05C6-4BEE-6A40B47E0570}" v="186" dt="2026-10-28T22:12:27.528"/>
    <p1510:client id="{57ED5B04-E7D5-9EDB-581E-D85C025FC4FA}" v="3" dt="2026-10-29T09:49:59.167"/>
    <p1510:client id="{65588A58-3113-6B8F-8F70-FF207D872A81}" v="6" dt="2026-10-29T10:07:40.506"/>
    <p1510:client id="{70EC849B-2A83-91B3-E158-72178564A611}" v="83" dt="2026-10-29T09:30:53.751"/>
    <p1510:client id="{9031AC89-4230-806B-5BC8-BE7437358ACD}" v="18" dt="2026-10-28T20:49:10.987"/>
    <p1510:client id="{E0B84987-B7AC-6F03-3A79-A507427943B4}" v="2" dt="2026-10-29T06:40:38.520"/>
    <p1510:client id="{EEF8F197-32A8-458F-89C3-93E766A17EA4}" v="2" dt="2026-10-29T09:09:23.271"/>
    <p1510:client id="{F884B83D-426A-D389-14D4-F3B980C19CED}" v="6" dt="2026-10-28T20:43:01.8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7EBC0D-46AD-FF1E-FF93-445F18EB0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D2A420-93C8-EE33-FE7F-7FE5E3BFB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0922EE-2C9C-F091-B4B5-D6377B54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9CCE-12F4-4EE3-88A5-5C9F4E0B26D4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CF04E9-00E6-5252-8E4E-768207F9E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494EDE-189E-C365-2DDD-AE3FB3CA0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62202-7560-469C-9773-A593FE960F7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26104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5ACE53-2E8F-2685-ABD5-C1F161B54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1D58C6-E9EC-C14A-8636-E45D6E266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EC7C7F-3700-FD9F-CECC-CFF1EEF70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9CCE-12F4-4EE3-88A5-5C9F4E0B26D4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E58D12-AC54-777F-E0AC-325ABF03D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3EEB79-BDF5-D214-65ED-E467C7EF8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62202-7560-469C-9773-A593FE960F7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1229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C69DF1-78B2-6C91-138B-B787767C9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333DA1-C974-DCCD-F9AF-38F5D6743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55CD2E7-E876-E755-66E2-008815059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9CCE-12F4-4EE3-88A5-5C9F4E0B26D4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A61C25-3635-41B5-7570-7A96DDFD0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A7FBED-887E-ECA7-0B26-20B0573BC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62202-7560-469C-9773-A593FE960F7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85615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3A825D-4C7F-ED0D-648D-AF77A42CA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5D46CBC-4F85-7BF7-F43B-2C65A0AF59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42CF16A-F820-38B7-3C15-7F1A45D4B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FBE740-D20F-A76C-3C98-2C29F22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9CCE-12F4-4EE3-88A5-5C9F4E0B26D4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C6AF75B-F5FC-95BD-BE91-174436E25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6001CD5-886A-0F52-D57E-EF71D21B2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62202-7560-469C-9773-A593FE960F7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17082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DE8D01-91BE-E7B1-98A3-7AB0F4DD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4373D2-FC84-66B4-286F-8ECE27773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F8E67FF-7AAC-DAAA-52DC-816B3E0DD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6312675-14E8-401C-1B05-E9CD616E54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65144EA-B425-7580-0A65-101674AF0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7E782BE-A857-8075-3381-FBA50F49A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9CCE-12F4-4EE3-88A5-5C9F4E0B26D4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31A94FB-99BF-9EF9-008B-2B88A1279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13463B1-CE8D-3AC6-AD0B-7CCA69E28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62202-7560-469C-9773-A593FE960F7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09976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29DA26-20E8-66FA-A572-5B46F503B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DDECBD3-EF73-DA29-4A57-64801B1E2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9CCE-12F4-4EE3-88A5-5C9F4E0B26D4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BE63BA-CBAC-A5C8-9735-4FDE2BE24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BE7B585-27DC-D704-E167-C716D3A2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62202-7560-469C-9773-A593FE960F7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52962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2295688-7484-6C0F-D5FD-77B991777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9CCE-12F4-4EE3-88A5-5C9F4E0B26D4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944C02-5A32-6749-0865-4D00B061D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AA6BC8-242E-379D-6B16-1EC2995D1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62202-7560-469C-9773-A593FE960F7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91524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F1C1B1-E38F-B5DD-3D10-8808AC7CA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92ADEF-E550-0A52-9325-56DA8C3C4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A5BEC4-C2C5-9857-8162-52A719E0D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0E49422-9770-FAAF-B369-AC17A480A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9CCE-12F4-4EE3-88A5-5C9F4E0B26D4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E2213B-3547-25BC-6AE8-7BAA9C2F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8E666FA-B954-1A84-FD29-33080FF24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62202-7560-469C-9773-A593FE960F7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37079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FAD1B5-45E1-BDD8-CEC9-A3C2898D6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AF53233-C3E6-6C0C-31C1-ABA69B712F7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42BAE9A-1F1E-F7C2-9C66-DFC590780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D10059-BD6D-3EE5-7F0C-12A85B637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9CCE-12F4-4EE3-88A5-5C9F4E0B26D4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75507F-CD5F-68F4-C931-A9341653D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4A3007-FAD3-E523-D4CF-6075529BB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62202-7560-469C-9773-A593FE960F7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59322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F63F7C-787A-CB13-676E-9B6E2462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326FD47-1D02-B575-88B8-3583D0282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357E4E-679D-D739-C220-764FFE432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9CCE-12F4-4EE3-88A5-5C9F4E0B26D4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805074-D5A7-811A-7C34-2956CB8F9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9CA9DC-6AB4-2B96-8D95-217AF059C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62202-7560-469C-9773-A593FE960F7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98910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E4B55B7-798D-CEB6-E92E-59EF398FC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7185FEB-DA4D-A807-6280-FCB958DA1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F8AE8E-3ABB-F765-D7D2-0AA15E7D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29CCE-12F4-4EE3-88A5-5C9F4E0B26D4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CF63DA-C133-C380-4157-92C61018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74CB48-8146-566E-031E-CB2D5162B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62202-7560-469C-9773-A593FE960F7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7687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6DE5CDE-B941-7EEA-B51D-98A640642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CE2302-7E41-8D0C-69AF-06B56DE34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89D7B7-061E-CD84-6A47-F349633A2B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B29CCE-12F4-4EE3-88A5-5C9F4E0B26D4}" type="datetimeFigureOut">
              <a:rPr lang="de-CH" smtClean="0"/>
              <a:t>29.10.2026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42C72E-75F6-40EA-C8F4-8E5B342D9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742803-7E02-71E8-F42D-EACE4FF749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B62202-7560-469C-9773-A593FE960F75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9232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the-nerd-sloth/co1-semester-projec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E4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0B2E4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rgbClr val="0B2E4F"/>
          </a:solidFill>
          <a:ln w="28575">
            <a:solidFill>
              <a:srgbClr val="2F80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19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rgbClr val="0B2E4F"/>
          </a:solidFill>
          <a:ln w="28575">
            <a:solidFill>
              <a:srgbClr val="56CC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66302C6-D37D-DABC-4D48-F336FD326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 wrap="square">
            <a:noAutofit/>
          </a:bodyPr>
          <a:lstStyle/>
          <a:p>
            <a:r>
              <a:rPr lang="en-GB" sz="4000" b="1">
                <a:solidFill>
                  <a:srgbClr val="FFFFFF"/>
                </a:solidFill>
                <a:latin typeface="Aptos Display"/>
              </a:rPr>
              <a:t>Fish Population Dynamics in Lake Constance</a:t>
            </a:r>
            <a:endParaRPr lang="de-CH" sz="4000">
              <a:solidFill>
                <a:schemeClr val="bg1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E16E218-7B10-19CF-4E6F-D7C2105A6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 vert="horz" wrap="square" lIns="91440" tIns="45720" rIns="91440" bIns="45720" rtlCol="0" anchor="t">
            <a:noAutofit/>
          </a:bodyPr>
          <a:lstStyle/>
          <a:p>
            <a:r>
              <a:rPr lang="en-GB" sz="1800">
                <a:solidFill>
                  <a:srgbClr val="D9EAF7"/>
                </a:solidFill>
                <a:latin typeface="Aptos"/>
              </a:rPr>
              <a:t>Rebecca Siebeneicher, ZHAW</a:t>
            </a:r>
            <a:endParaRPr lang="de-CH" sz="1800">
              <a:solidFill>
                <a:schemeClr val="bg1"/>
              </a:solidFill>
            </a:endParaRPr>
          </a:p>
          <a:p>
            <a:r>
              <a:rPr lang="en-GB" sz="1800">
                <a:solidFill>
                  <a:srgbClr val="D9EAF7"/>
                </a:solidFill>
                <a:latin typeface="Aptos"/>
              </a:rPr>
              <a:t>Spyridon Margomenos, ZHAW</a:t>
            </a:r>
            <a:endParaRPr lang="de-CH" sz="1800">
              <a:solidFill>
                <a:schemeClr val="bg1"/>
              </a:solidFill>
            </a:endParaRPr>
          </a:p>
          <a:p>
            <a:r>
              <a:rPr lang="en-GB" sz="1800">
                <a:solidFill>
                  <a:srgbClr val="D9EAF7"/>
                </a:solidFill>
                <a:latin typeface="Aptos"/>
              </a:rPr>
              <a:t>Anika Heim, ZHAW</a:t>
            </a:r>
          </a:p>
          <a:p>
            <a:r>
              <a:rPr lang="en-GB" sz="1800">
                <a:solidFill>
                  <a:srgbClr val="D9EAF7"/>
                </a:solidFill>
                <a:latin typeface="Aptos"/>
              </a:rPr>
              <a:t>29.10.2026</a:t>
            </a:r>
            <a:endParaRPr lang="de-CH" sz="1800">
              <a:solidFill>
                <a:schemeClr val="bg1"/>
              </a:solidFill>
            </a:endParaRPr>
          </a:p>
        </p:txBody>
      </p:sp>
      <p:sp>
        <p:nvSpPr>
          <p:cNvPr id="23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5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56CCF2"/>
          </a:solidFill>
          <a:ln w="28575">
            <a:solidFill>
              <a:srgbClr val="56CC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7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solidFill>
                <a:srgbClr val="D9EA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solidFill>
                <a:srgbClr val="D9EAF7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8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9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2F80ED"/>
          </a:solidFill>
          <a:ln w="28575">
            <a:solidFill>
              <a:srgbClr val="2F80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00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7" y="4175797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solidFill>
                <a:srgbClr val="56CCF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4216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D56993-FEFB-2A09-B078-28A9B5175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en-GB" b="1" kern="1200" noProof="0">
                <a:solidFill>
                  <a:srgbClr val="173F5F"/>
                </a:solidFill>
                <a:latin typeface="Aptos Display"/>
                <a:ea typeface="+mj-ea"/>
                <a:cs typeface="+mj-cs"/>
              </a:rPr>
              <a:t>Model Idea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D4EC021D-628F-E484-B3BB-D7BAB9EDD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E5924858-E716-082E-660D-5ED92B5BF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62" y="2633472"/>
            <a:ext cx="10395228" cy="3586353"/>
          </a:xfrm>
          <a:prstGeom prst="rect">
            <a:avLst/>
          </a:prstGeom>
        </p:spPr>
      </p:pic>
      <p:sp>
        <p:nvSpPr>
          <p:cNvPr id="8" name="Academic blue title accent"/>
          <p:cNvSpPr/>
          <p:nvPr/>
        </p:nvSpPr>
        <p:spPr>
          <a:xfrm>
            <a:off x="638881" y="1410938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cyan title accent"/>
          <p:cNvSpPr/>
          <p:nvPr/>
        </p:nvSpPr>
        <p:spPr>
          <a:xfrm>
            <a:off x="1443553" y="1410938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blue title accent"/>
          <p:cNvSpPr/>
          <p:nvPr/>
        </p:nvSpPr>
        <p:spPr>
          <a:xfrm>
            <a:off x="638881" y="1410938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cademic cyan title accent"/>
          <p:cNvSpPr/>
          <p:nvPr/>
        </p:nvSpPr>
        <p:spPr>
          <a:xfrm>
            <a:off x="1443553" y="1410938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blue title accent"/>
          <p:cNvSpPr/>
          <p:nvPr/>
        </p:nvSpPr>
        <p:spPr>
          <a:xfrm>
            <a:off x="638881" y="1410938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cyan title accent"/>
          <p:cNvSpPr/>
          <p:nvPr/>
        </p:nvSpPr>
        <p:spPr>
          <a:xfrm>
            <a:off x="1443553" y="1410938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blue title accent"/>
          <p:cNvSpPr/>
          <p:nvPr/>
        </p:nvSpPr>
        <p:spPr>
          <a:xfrm>
            <a:off x="638881" y="1410938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cyan title accent"/>
          <p:cNvSpPr/>
          <p:nvPr/>
        </p:nvSpPr>
        <p:spPr>
          <a:xfrm>
            <a:off x="1443553" y="1410938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blue title accent"/>
          <p:cNvSpPr/>
          <p:nvPr/>
        </p:nvSpPr>
        <p:spPr>
          <a:xfrm>
            <a:off x="638881" y="1410938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cyan title accent"/>
          <p:cNvSpPr/>
          <p:nvPr/>
        </p:nvSpPr>
        <p:spPr>
          <a:xfrm>
            <a:off x="1443553" y="1410938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blue title accent"/>
          <p:cNvSpPr/>
          <p:nvPr/>
        </p:nvSpPr>
        <p:spPr>
          <a:xfrm>
            <a:off x="638881" y="1410938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cyan title accent"/>
          <p:cNvSpPr/>
          <p:nvPr/>
        </p:nvSpPr>
        <p:spPr>
          <a:xfrm>
            <a:off x="1443553" y="1410938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cademic blue title accent"/>
          <p:cNvSpPr/>
          <p:nvPr/>
        </p:nvSpPr>
        <p:spPr>
          <a:xfrm>
            <a:off x="638881" y="1410938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cademic cyan title accent"/>
          <p:cNvSpPr/>
          <p:nvPr/>
        </p:nvSpPr>
        <p:spPr>
          <a:xfrm>
            <a:off x="1443553" y="1410938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36899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344147-4277-CD34-7C95-BFB343864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 b="1">
                <a:solidFill>
                  <a:srgbClr val="173F5F"/>
                </a:solidFill>
                <a:latin typeface="Aptos Display"/>
              </a:rPr>
              <a:t>Model Idea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093CFD-ECC3-9AF0-E8F0-D1966BE78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solidFill>
                  <a:srgbClr val="293E53"/>
                </a:solidFill>
                <a:latin typeface="Aptos"/>
              </a:rPr>
              <a:t>Whitefish</a:t>
            </a:r>
            <a:r>
              <a:rPr lang="en-GB">
                <a:solidFill>
                  <a:srgbClr val="243B53"/>
                </a:solidFill>
                <a:latin typeface="Aptos"/>
              </a:rPr>
              <a:t>: key role in ecosystem &amp; important food fish</a:t>
            </a:r>
          </a:p>
          <a:p>
            <a:pPr lvl="1"/>
            <a:r>
              <a:rPr lang="en-GB">
                <a:solidFill>
                  <a:srgbClr val="243B53"/>
                </a:solidFill>
                <a:latin typeface="Aptos"/>
              </a:rPr>
              <a:t>1978</a:t>
            </a:r>
            <a:r>
              <a:rPr lang="en-GB" noProof="0">
                <a:solidFill>
                  <a:srgbClr val="243B53"/>
                </a:solidFill>
                <a:latin typeface="Aptos"/>
              </a:rPr>
              <a:t> Peak fishing catch with 1200 tonnes </a:t>
            </a:r>
          </a:p>
          <a:p>
            <a:pPr lvl="1"/>
            <a:r>
              <a:rPr lang="en-GB" noProof="0">
                <a:solidFill>
                  <a:srgbClr val="243B53"/>
                </a:solidFill>
                <a:latin typeface="Aptos"/>
              </a:rPr>
              <a:t>2023 only 9.8 tonnes fishing  </a:t>
            </a:r>
          </a:p>
          <a:p>
            <a:r>
              <a:rPr lang="en-GB" noProof="0">
                <a:solidFill>
                  <a:srgbClr val="243B53"/>
                </a:solidFill>
                <a:latin typeface="Aptos"/>
              </a:rPr>
              <a:t>2024 - 2027 fishing ban </a:t>
            </a:r>
          </a:p>
          <a:p>
            <a:r>
              <a:rPr lang="en-GB" noProof="0">
                <a:solidFill>
                  <a:srgbClr val="243B53"/>
                </a:solidFill>
                <a:latin typeface="Aptos"/>
              </a:rPr>
              <a:t>Stickleback as rival </a:t>
            </a:r>
          </a:p>
        </p:txBody>
      </p:sp>
      <p:sp>
        <p:nvSpPr>
          <p:cNvPr id="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12490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83E3A5-98CD-F096-B921-F6893E30F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 b="1" noProof="0">
                <a:solidFill>
                  <a:srgbClr val="173F5F"/>
                </a:solidFill>
                <a:latin typeface="Aptos Display"/>
              </a:rPr>
              <a:t>Model Idea </a:t>
            </a:r>
          </a:p>
        </p:txBody>
      </p:sp>
      <p:pic>
        <p:nvPicPr>
          <p:cNvPr id="9" name="Inhaltsplatzhalter 8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4D8EC1D8-3E29-ABDE-A28E-6A6B09B8FB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715"/>
          <a:stretch>
            <a:fillRect/>
          </a:stretch>
        </p:blipFill>
        <p:spPr>
          <a:xfrm>
            <a:off x="1602569" y="1652919"/>
            <a:ext cx="8986861" cy="4894028"/>
          </a:xfrm>
        </p:spPr>
      </p:pic>
      <p:sp>
        <p:nvSpPr>
          <p:cNvPr id="10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80927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255D26-D196-9A03-EAD0-80E85E25A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en-GB" b="1" noProof="0">
                <a:solidFill>
                  <a:srgbClr val="173F5F"/>
                </a:solidFill>
                <a:latin typeface="Aptos Display"/>
              </a:rPr>
              <a:t>Model boundaries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937DCE-1BAA-BE52-DC04-768865870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noProof="0">
                <a:solidFill>
                  <a:srgbClr val="243B53"/>
                </a:solidFill>
                <a:latin typeface="Aptos"/>
              </a:rPr>
              <a:t>Model focuses on whitefish population in Lake Constance</a:t>
            </a:r>
            <a:endParaRPr lang="en-GB"/>
          </a:p>
          <a:p>
            <a:r>
              <a:rPr lang="en-GB">
                <a:solidFill>
                  <a:srgbClr val="243B53"/>
                </a:solidFill>
                <a:latin typeface="Aptos"/>
              </a:rPr>
              <a:t>Timeframe: 1950 – 2050, seasons not included </a:t>
            </a:r>
            <a:r>
              <a:rPr lang="en-GB" noProof="0">
                <a:solidFill>
                  <a:srgbClr val="243B53"/>
                </a:solidFill>
                <a:latin typeface="Aptos"/>
              </a:rPr>
              <a:t> </a:t>
            </a:r>
          </a:p>
          <a:p>
            <a:r>
              <a:rPr lang="en-GB" noProof="0">
                <a:solidFill>
                  <a:srgbClr val="243B53"/>
                </a:solidFill>
                <a:latin typeface="Aptos"/>
              </a:rPr>
              <a:t>Water temperature</a:t>
            </a:r>
            <a:r>
              <a:rPr lang="en-GB">
                <a:solidFill>
                  <a:srgbClr val="243B53"/>
                </a:solidFill>
                <a:latin typeface="Aptos"/>
              </a:rPr>
              <a:t>/ climate change not included</a:t>
            </a:r>
            <a:endParaRPr lang="en-GB" noProof="0"/>
          </a:p>
          <a:p>
            <a:r>
              <a:rPr lang="en-GB" noProof="0">
                <a:solidFill>
                  <a:srgbClr val="243B53"/>
                </a:solidFill>
                <a:latin typeface="Aptos"/>
              </a:rPr>
              <a:t>Release of phosphorus from the sediment is not included </a:t>
            </a:r>
          </a:p>
          <a:p>
            <a:r>
              <a:rPr lang="en-GB">
                <a:solidFill>
                  <a:srgbClr val="243B53"/>
                </a:solidFill>
                <a:latin typeface="Aptos"/>
              </a:rPr>
              <a:t>Stickleback only included as a pressure index, not as its own population</a:t>
            </a:r>
            <a:endParaRPr lang="en-GB" noProof="0"/>
          </a:p>
          <a:p>
            <a:r>
              <a:rPr lang="en-GB">
                <a:solidFill>
                  <a:srgbClr val="243B53"/>
                </a:solidFill>
                <a:latin typeface="Aptos"/>
              </a:rPr>
              <a:t>Algae not modelled as a stock (included in zooplankton growth)</a:t>
            </a:r>
            <a:endParaRPr lang="en-GB" noProof="0"/>
          </a:p>
          <a:p>
            <a:endParaRPr lang="en-GB" noProof="0"/>
          </a:p>
          <a:p>
            <a:endParaRPr lang="en-GB" noProof="0"/>
          </a:p>
        </p:txBody>
      </p:sp>
      <p:sp>
        <p:nvSpPr>
          <p:cNvPr id="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77852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4D2222-0488-A9AC-457E-D2140B514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de-CH" b="1">
                <a:solidFill>
                  <a:srgbClr val="173F5F"/>
                </a:solidFill>
                <a:latin typeface="Aptos Display"/>
              </a:rPr>
              <a:t>Hypothesis</a:t>
            </a:r>
            <a:endParaRPr lang="de-CH" sz="2800" b="1">
              <a:solidFill>
                <a:srgbClr val="173F5F"/>
              </a:solidFill>
              <a:latin typeface="Aptos Display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08DE06-8CE5-B2E8-1F0B-090585766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97225"/>
            <a:ext cx="10515600" cy="29797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GB" b="1">
                <a:solidFill>
                  <a:srgbClr val="293E53"/>
                </a:solidFill>
                <a:highlight>
                  <a:srgbClr val="FFFFFF"/>
                </a:highlight>
                <a:latin typeface="Arial"/>
                <a:cs typeface="Arial"/>
              </a:rPr>
              <a:t>H1</a:t>
            </a:r>
            <a:r>
              <a:rPr lang="en-GB">
                <a:solidFill>
                  <a:srgbClr val="293E53"/>
                </a:solidFill>
                <a:highlight>
                  <a:srgbClr val="FFFFFF"/>
                </a:highlight>
                <a:latin typeface="Arial"/>
                <a:cs typeface="Arial"/>
              </a:rPr>
              <a:t>: The model can reproduce the historical data.</a:t>
            </a:r>
            <a:endParaRPr lang="de-CH">
              <a:solidFill>
                <a:srgbClr val="293E53"/>
              </a:solidFill>
              <a:highlight>
                <a:srgbClr val="606060"/>
              </a:highlight>
              <a:latin typeface="Arial"/>
              <a:cs typeface="Arial"/>
            </a:endParaRPr>
          </a:p>
          <a:p>
            <a:pPr algn="just"/>
            <a:endParaRPr lang="de-CH">
              <a:solidFill>
                <a:srgbClr val="293E53"/>
              </a:solidFill>
              <a:highlight>
                <a:srgbClr val="606060"/>
              </a:highlight>
              <a:latin typeface="Arial"/>
              <a:cs typeface="Arial"/>
            </a:endParaRPr>
          </a:p>
        </p:txBody>
      </p:sp>
      <p:sp>
        <p:nvSpPr>
          <p:cNvPr id="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041705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984E2-CA14-1EB1-C700-6734257C5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4BB567-CBF3-5E70-E988-1BB435F92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de-CH" b="1">
                <a:solidFill>
                  <a:srgbClr val="173F5F"/>
                </a:solidFill>
                <a:latin typeface="Aptos Display"/>
              </a:rPr>
              <a:t>Hypothesis</a:t>
            </a:r>
            <a:endParaRPr lang="de-CH" sz="2800" b="1">
              <a:solidFill>
                <a:srgbClr val="173F5F"/>
              </a:solidFill>
              <a:latin typeface="Aptos Display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6B8012-DD02-7E82-B28F-EACF5E901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9416"/>
            <a:ext cx="10515600" cy="33375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GB" b="1">
                <a:solidFill>
                  <a:srgbClr val="293E53"/>
                </a:solidFill>
                <a:highlight>
                  <a:srgbClr val="FFFFFF"/>
                </a:highlight>
                <a:latin typeface="Arial"/>
                <a:cs typeface="Arial"/>
              </a:rPr>
              <a:t>H2</a:t>
            </a:r>
            <a:r>
              <a:rPr lang="en-GB">
                <a:solidFill>
                  <a:srgbClr val="293E53"/>
                </a:solidFill>
                <a:highlight>
                  <a:srgbClr val="FFFFFF"/>
                </a:highlight>
                <a:latin typeface="Arial"/>
                <a:cs typeface="Arial"/>
              </a:rPr>
              <a:t>: The model can show the contribution effects of the 2024 fishing ban and the decline of the stickleback population to the recovery of the whitefish stock.</a:t>
            </a:r>
            <a:endParaRPr lang="de-CH">
              <a:solidFill>
                <a:srgbClr val="293E53"/>
              </a:solidFill>
              <a:highlight>
                <a:srgbClr val="606060"/>
              </a:highlight>
              <a:latin typeface="Arial"/>
              <a:cs typeface="Arial"/>
            </a:endParaRPr>
          </a:p>
          <a:p>
            <a:pPr algn="just"/>
            <a:endParaRPr lang="de-CH" sz="3200">
              <a:highlight>
                <a:srgbClr val="606060"/>
              </a:highlight>
              <a:latin typeface="Arial"/>
              <a:cs typeface="Arial"/>
            </a:endParaRPr>
          </a:p>
        </p:txBody>
      </p:sp>
      <p:sp>
        <p:nvSpPr>
          <p:cNvPr id="4" name="Academic blue title accent">
            <a:extLst>
              <a:ext uri="{FF2B5EF4-FFF2-40B4-BE49-F238E27FC236}">
                <a16:creationId xmlns:a16="http://schemas.microsoft.com/office/drawing/2014/main" id="{C066DCDF-35DD-FC05-8957-FFC12A50F407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ademic cyan title accent">
            <a:extLst>
              <a:ext uri="{FF2B5EF4-FFF2-40B4-BE49-F238E27FC236}">
                <a16:creationId xmlns:a16="http://schemas.microsoft.com/office/drawing/2014/main" id="{50DFD6BF-A9DF-0D87-511C-CE5EC95F8CA8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blue title accent">
            <a:extLst>
              <a:ext uri="{FF2B5EF4-FFF2-40B4-BE49-F238E27FC236}">
                <a16:creationId xmlns:a16="http://schemas.microsoft.com/office/drawing/2014/main" id="{912C0374-5092-B460-E0EE-9C056CD13C03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cyan title accent">
            <a:extLst>
              <a:ext uri="{FF2B5EF4-FFF2-40B4-BE49-F238E27FC236}">
                <a16:creationId xmlns:a16="http://schemas.microsoft.com/office/drawing/2014/main" id="{677DBC91-A6CA-AF4E-3558-8B5F27ECC9B8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blue title accent">
            <a:extLst>
              <a:ext uri="{FF2B5EF4-FFF2-40B4-BE49-F238E27FC236}">
                <a16:creationId xmlns:a16="http://schemas.microsoft.com/office/drawing/2014/main" id="{01A31B38-7320-1DF4-7E4A-5CA9D7285620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cyan title accent">
            <a:extLst>
              <a:ext uri="{FF2B5EF4-FFF2-40B4-BE49-F238E27FC236}">
                <a16:creationId xmlns:a16="http://schemas.microsoft.com/office/drawing/2014/main" id="{F4F16780-2249-1627-279E-C99AC42EAD77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blue title accent">
            <a:extLst>
              <a:ext uri="{FF2B5EF4-FFF2-40B4-BE49-F238E27FC236}">
                <a16:creationId xmlns:a16="http://schemas.microsoft.com/office/drawing/2014/main" id="{BDAAEF1B-04F4-B3D4-83CA-5A0107DE0D04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cyan title accent">
            <a:extLst>
              <a:ext uri="{FF2B5EF4-FFF2-40B4-BE49-F238E27FC236}">
                <a16:creationId xmlns:a16="http://schemas.microsoft.com/office/drawing/2014/main" id="{DC62561A-BD32-0013-7E9D-8DCB10FB1219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blue title accent">
            <a:extLst>
              <a:ext uri="{FF2B5EF4-FFF2-40B4-BE49-F238E27FC236}">
                <a16:creationId xmlns:a16="http://schemas.microsoft.com/office/drawing/2014/main" id="{9F0284F9-9ED8-BB06-5CC5-7685C4EC7021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cyan title accent">
            <a:extLst>
              <a:ext uri="{FF2B5EF4-FFF2-40B4-BE49-F238E27FC236}">
                <a16:creationId xmlns:a16="http://schemas.microsoft.com/office/drawing/2014/main" id="{DDAF98A6-F9AE-243B-1998-A0F8BD80893B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cademic blue title accent">
            <a:extLst>
              <a:ext uri="{FF2B5EF4-FFF2-40B4-BE49-F238E27FC236}">
                <a16:creationId xmlns:a16="http://schemas.microsoft.com/office/drawing/2014/main" id="{5F1CC0CF-1E49-2C5E-7E50-22A063260ED7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cyan title accent">
            <a:extLst>
              <a:ext uri="{FF2B5EF4-FFF2-40B4-BE49-F238E27FC236}">
                <a16:creationId xmlns:a16="http://schemas.microsoft.com/office/drawing/2014/main" id="{4E07194B-4A31-9F47-1F1D-DD8549631F1E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blue title accent">
            <a:extLst>
              <a:ext uri="{FF2B5EF4-FFF2-40B4-BE49-F238E27FC236}">
                <a16:creationId xmlns:a16="http://schemas.microsoft.com/office/drawing/2014/main" id="{5A648B05-0189-F3E1-EE3C-19566DAC72F6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ademic cyan title accent">
            <a:extLst>
              <a:ext uri="{FF2B5EF4-FFF2-40B4-BE49-F238E27FC236}">
                <a16:creationId xmlns:a16="http://schemas.microsoft.com/office/drawing/2014/main" id="{D8240F1E-7A50-4CA2-8D92-469E782C020D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35992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68E834-E58B-E33B-AEDF-6F03DD1F4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0535CE-EBD8-3A3E-DF42-2AAB39F83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de-CH" b="1">
                <a:solidFill>
                  <a:srgbClr val="173F5F"/>
                </a:solidFill>
                <a:latin typeface="Aptos Display"/>
              </a:rPr>
              <a:t>Hypothesis</a:t>
            </a:r>
            <a:endParaRPr lang="de-CH" sz="2800" b="1">
              <a:solidFill>
                <a:srgbClr val="173F5F"/>
              </a:solidFill>
              <a:latin typeface="Aptos Display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364C2C-BB6C-9178-36F0-F6BF22BBD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74372"/>
            <a:ext cx="10515600" cy="36025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GB" b="1">
                <a:solidFill>
                  <a:srgbClr val="293E53"/>
                </a:solidFill>
                <a:highlight>
                  <a:srgbClr val="FFFFFF"/>
                </a:highlight>
                <a:latin typeface="Arial"/>
                <a:cs typeface="Arial"/>
              </a:rPr>
              <a:t>H3</a:t>
            </a:r>
            <a:r>
              <a:rPr lang="en-GB">
                <a:solidFill>
                  <a:srgbClr val="293E53"/>
                </a:solidFill>
                <a:highlight>
                  <a:srgbClr val="FFFFFF"/>
                </a:highlight>
                <a:latin typeface="Arial"/>
                <a:cs typeface="Arial"/>
              </a:rPr>
              <a:t>: The model can simulate the maximum annual catch that can be permitted from 2027 onwards, to ensure that the stock remains above a reference level until 2050</a:t>
            </a:r>
            <a:endParaRPr lang="de-CH">
              <a:solidFill>
                <a:srgbClr val="293E53"/>
              </a:solidFill>
              <a:highlight>
                <a:srgbClr val="606060"/>
              </a:highlight>
              <a:latin typeface="Arial"/>
              <a:cs typeface="Arial"/>
            </a:endParaRPr>
          </a:p>
          <a:p>
            <a:pPr lvl="1" algn="just"/>
            <a:r>
              <a:rPr lang="en-GB" sz="2800">
                <a:solidFill>
                  <a:srgbClr val="293E53"/>
                </a:solidFill>
                <a:highlight>
                  <a:srgbClr val="FFFFFF"/>
                </a:highlight>
                <a:latin typeface="Arial"/>
                <a:cs typeface="Arial"/>
              </a:rPr>
              <a:t> on low and renewed stickleback pressure</a:t>
            </a:r>
            <a:endParaRPr lang="de-CH" sz="2800">
              <a:solidFill>
                <a:srgbClr val="293E53"/>
              </a:solidFill>
              <a:highlight>
                <a:srgbClr val="606060"/>
              </a:highlight>
              <a:latin typeface="Arial"/>
              <a:cs typeface="Arial"/>
            </a:endParaRPr>
          </a:p>
          <a:p>
            <a:endParaRPr lang="de-CH" sz="3200"/>
          </a:p>
        </p:txBody>
      </p:sp>
      <p:sp>
        <p:nvSpPr>
          <p:cNvPr id="4" name="Academic blue title accent">
            <a:extLst>
              <a:ext uri="{FF2B5EF4-FFF2-40B4-BE49-F238E27FC236}">
                <a16:creationId xmlns:a16="http://schemas.microsoft.com/office/drawing/2014/main" id="{FB977FD0-9552-EEC4-6382-2CE4B8B69FD1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ademic cyan title accent">
            <a:extLst>
              <a:ext uri="{FF2B5EF4-FFF2-40B4-BE49-F238E27FC236}">
                <a16:creationId xmlns:a16="http://schemas.microsoft.com/office/drawing/2014/main" id="{C7A867B6-8C04-5F98-7935-2DD8C7B30765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blue title accent">
            <a:extLst>
              <a:ext uri="{FF2B5EF4-FFF2-40B4-BE49-F238E27FC236}">
                <a16:creationId xmlns:a16="http://schemas.microsoft.com/office/drawing/2014/main" id="{248BCDAB-F515-B3D5-3AF6-E68905D5970B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cyan title accent">
            <a:extLst>
              <a:ext uri="{FF2B5EF4-FFF2-40B4-BE49-F238E27FC236}">
                <a16:creationId xmlns:a16="http://schemas.microsoft.com/office/drawing/2014/main" id="{329790B6-2252-A68D-24E7-F2B97B552930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blue title accent">
            <a:extLst>
              <a:ext uri="{FF2B5EF4-FFF2-40B4-BE49-F238E27FC236}">
                <a16:creationId xmlns:a16="http://schemas.microsoft.com/office/drawing/2014/main" id="{8FD63EA3-9C82-AD87-971F-ABA9876A8702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cyan title accent">
            <a:extLst>
              <a:ext uri="{FF2B5EF4-FFF2-40B4-BE49-F238E27FC236}">
                <a16:creationId xmlns:a16="http://schemas.microsoft.com/office/drawing/2014/main" id="{0958A5E3-65A3-DE64-486F-ED51E25DA262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blue title accent">
            <a:extLst>
              <a:ext uri="{FF2B5EF4-FFF2-40B4-BE49-F238E27FC236}">
                <a16:creationId xmlns:a16="http://schemas.microsoft.com/office/drawing/2014/main" id="{537668E9-CE04-2F66-474D-001AA4D0D50A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cyan title accent">
            <a:extLst>
              <a:ext uri="{FF2B5EF4-FFF2-40B4-BE49-F238E27FC236}">
                <a16:creationId xmlns:a16="http://schemas.microsoft.com/office/drawing/2014/main" id="{F65DED1A-F0FC-51AD-0D0D-62E7D8750C03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blue title accent">
            <a:extLst>
              <a:ext uri="{FF2B5EF4-FFF2-40B4-BE49-F238E27FC236}">
                <a16:creationId xmlns:a16="http://schemas.microsoft.com/office/drawing/2014/main" id="{6F210BE4-D782-2F01-A4D4-61CB88054864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cyan title accent">
            <a:extLst>
              <a:ext uri="{FF2B5EF4-FFF2-40B4-BE49-F238E27FC236}">
                <a16:creationId xmlns:a16="http://schemas.microsoft.com/office/drawing/2014/main" id="{912A3C54-4F53-4EE6-B2DC-5533EEEFEF15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cademic blue title accent">
            <a:extLst>
              <a:ext uri="{FF2B5EF4-FFF2-40B4-BE49-F238E27FC236}">
                <a16:creationId xmlns:a16="http://schemas.microsoft.com/office/drawing/2014/main" id="{1B5DD9D9-EE1C-0A19-F28D-E20F1B24B982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cyan title accent">
            <a:extLst>
              <a:ext uri="{FF2B5EF4-FFF2-40B4-BE49-F238E27FC236}">
                <a16:creationId xmlns:a16="http://schemas.microsoft.com/office/drawing/2014/main" id="{83AF83E3-D75C-65D1-25AE-994B369CAD82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blue title accent">
            <a:extLst>
              <a:ext uri="{FF2B5EF4-FFF2-40B4-BE49-F238E27FC236}">
                <a16:creationId xmlns:a16="http://schemas.microsoft.com/office/drawing/2014/main" id="{D832E5E9-1AEB-1F5C-B9BC-A680A26487BC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ademic cyan title accent">
            <a:extLst>
              <a:ext uri="{FF2B5EF4-FFF2-40B4-BE49-F238E27FC236}">
                <a16:creationId xmlns:a16="http://schemas.microsoft.com/office/drawing/2014/main" id="{EA0C4387-98AE-50FD-96D1-0C15C93EF0BC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65107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5BB1E-ED70-ABDB-BB02-710CB2E0E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de-CH" b="1">
                <a:solidFill>
                  <a:srgbClr val="173F5F"/>
                </a:solidFill>
                <a:latin typeface="Aptos Display"/>
              </a:rPr>
              <a:t>Model - </a:t>
            </a:r>
            <a:r>
              <a:rPr lang="de-CH" b="1" err="1">
                <a:solidFill>
                  <a:srgbClr val="173F5F"/>
                </a:solidFill>
                <a:latin typeface="Aptos Display"/>
              </a:rPr>
              <a:t>Overview</a:t>
            </a:r>
            <a:endParaRPr lang="de-CH" sz="660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D9448F1E-86A7-31EA-9CCE-D421064F6A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8160" y="1622817"/>
            <a:ext cx="8615680" cy="5061754"/>
          </a:xfrm>
          <a:prstGeom prst="rect">
            <a:avLst/>
          </a:prstGeom>
        </p:spPr>
      </p:pic>
      <p:sp>
        <p:nvSpPr>
          <p:cNvPr id="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71065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7A8604-0D31-7548-025F-C97E09F55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288BD2-4AD4-EE20-38F6-D3B9D03D9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de-CH" b="1">
                <a:solidFill>
                  <a:srgbClr val="173F5F"/>
                </a:solidFill>
                <a:latin typeface="Aptos Display"/>
              </a:rPr>
              <a:t>Model - </a:t>
            </a:r>
            <a:r>
              <a:rPr lang="de-CH" b="1" err="1">
                <a:solidFill>
                  <a:srgbClr val="173F5F"/>
                </a:solidFill>
                <a:latin typeface="Aptos Display"/>
              </a:rPr>
              <a:t>Overview</a:t>
            </a:r>
            <a:endParaRPr lang="de-CH" sz="6600"/>
          </a:p>
        </p:txBody>
      </p:sp>
      <p:sp>
        <p:nvSpPr>
          <p:cNvPr id="4" name="Academic blue title accent">
            <a:extLst>
              <a:ext uri="{FF2B5EF4-FFF2-40B4-BE49-F238E27FC236}">
                <a16:creationId xmlns:a16="http://schemas.microsoft.com/office/drawing/2014/main" id="{9528463F-70C9-27CE-CBC5-E9F975222A47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ademic cyan title accent">
            <a:extLst>
              <a:ext uri="{FF2B5EF4-FFF2-40B4-BE49-F238E27FC236}">
                <a16:creationId xmlns:a16="http://schemas.microsoft.com/office/drawing/2014/main" id="{DC20C04D-C1B7-C739-EB13-24657D750866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blue title accent">
            <a:extLst>
              <a:ext uri="{FF2B5EF4-FFF2-40B4-BE49-F238E27FC236}">
                <a16:creationId xmlns:a16="http://schemas.microsoft.com/office/drawing/2014/main" id="{03D80B35-AD51-89B3-F92D-E4122DE50ABC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cyan title accent">
            <a:extLst>
              <a:ext uri="{FF2B5EF4-FFF2-40B4-BE49-F238E27FC236}">
                <a16:creationId xmlns:a16="http://schemas.microsoft.com/office/drawing/2014/main" id="{EC5F06CA-37C6-3F7B-43F0-D424B8836C21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blue title accent">
            <a:extLst>
              <a:ext uri="{FF2B5EF4-FFF2-40B4-BE49-F238E27FC236}">
                <a16:creationId xmlns:a16="http://schemas.microsoft.com/office/drawing/2014/main" id="{D89C2851-5E96-E3BB-CFAA-5E5255D02ED6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cyan title accent">
            <a:extLst>
              <a:ext uri="{FF2B5EF4-FFF2-40B4-BE49-F238E27FC236}">
                <a16:creationId xmlns:a16="http://schemas.microsoft.com/office/drawing/2014/main" id="{DA5E6AC5-72C1-62CC-21EB-EFBF1B6E57D2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blue title accent">
            <a:extLst>
              <a:ext uri="{FF2B5EF4-FFF2-40B4-BE49-F238E27FC236}">
                <a16:creationId xmlns:a16="http://schemas.microsoft.com/office/drawing/2014/main" id="{74679DE5-E3AC-B482-5531-6C33E560B216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cyan title accent">
            <a:extLst>
              <a:ext uri="{FF2B5EF4-FFF2-40B4-BE49-F238E27FC236}">
                <a16:creationId xmlns:a16="http://schemas.microsoft.com/office/drawing/2014/main" id="{73CDC60B-5881-2219-D633-247C640C1606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blue title accent">
            <a:extLst>
              <a:ext uri="{FF2B5EF4-FFF2-40B4-BE49-F238E27FC236}">
                <a16:creationId xmlns:a16="http://schemas.microsoft.com/office/drawing/2014/main" id="{06385C0C-105B-0297-3F32-0D2B6C706117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cyan title accent">
            <a:extLst>
              <a:ext uri="{FF2B5EF4-FFF2-40B4-BE49-F238E27FC236}">
                <a16:creationId xmlns:a16="http://schemas.microsoft.com/office/drawing/2014/main" id="{451E90D5-EB61-5AC1-AC9B-4C0D910F571E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cademic blue title accent">
            <a:extLst>
              <a:ext uri="{FF2B5EF4-FFF2-40B4-BE49-F238E27FC236}">
                <a16:creationId xmlns:a16="http://schemas.microsoft.com/office/drawing/2014/main" id="{5120A0AC-C700-8344-3D8B-16F48EE639FB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cyan title accent">
            <a:extLst>
              <a:ext uri="{FF2B5EF4-FFF2-40B4-BE49-F238E27FC236}">
                <a16:creationId xmlns:a16="http://schemas.microsoft.com/office/drawing/2014/main" id="{2A94FF5B-1846-9B6D-46C2-E00390FE31DF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blue title accent">
            <a:extLst>
              <a:ext uri="{FF2B5EF4-FFF2-40B4-BE49-F238E27FC236}">
                <a16:creationId xmlns:a16="http://schemas.microsoft.com/office/drawing/2014/main" id="{D87FE816-B1CD-01C2-4048-4F660D1C61EB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ademic cyan title accent">
            <a:extLst>
              <a:ext uri="{FF2B5EF4-FFF2-40B4-BE49-F238E27FC236}">
                <a16:creationId xmlns:a16="http://schemas.microsoft.com/office/drawing/2014/main" id="{EEF7F16D-69D4-759F-FA88-CA20C00D649E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Content Placeholder 1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09F79C4-7BBB-E855-55E9-AD7052EA00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0261" y="1507425"/>
            <a:ext cx="9011479" cy="535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62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7F8B9-B2E5-BCC0-9C05-DB380B100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DBF1FF-A256-465A-5607-1EF6AF97D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de-CH" b="1">
                <a:solidFill>
                  <a:srgbClr val="173F5F"/>
                </a:solidFill>
                <a:latin typeface="Aptos Display"/>
              </a:rPr>
              <a:t>Model - Variables</a:t>
            </a:r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0E6ADBA1-CE33-C85D-9326-AAA0DE2B88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8881442"/>
              </p:ext>
            </p:extLst>
          </p:nvPr>
        </p:nvGraphicFramePr>
        <p:xfrm>
          <a:off x="1323109" y="2295141"/>
          <a:ext cx="6507837" cy="2727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27541">
                  <a:extLst>
                    <a:ext uri="{9D8B030D-6E8A-4147-A177-3AD203B41FA5}">
                      <a16:colId xmlns:a16="http://schemas.microsoft.com/office/drawing/2014/main" val="3299798577"/>
                    </a:ext>
                  </a:extLst>
                </a:gridCol>
                <a:gridCol w="1622188">
                  <a:extLst>
                    <a:ext uri="{9D8B030D-6E8A-4147-A177-3AD203B41FA5}">
                      <a16:colId xmlns:a16="http://schemas.microsoft.com/office/drawing/2014/main" val="1427124487"/>
                    </a:ext>
                  </a:extLst>
                </a:gridCol>
                <a:gridCol w="2958108">
                  <a:extLst>
                    <a:ext uri="{9D8B030D-6E8A-4147-A177-3AD203B41FA5}">
                      <a16:colId xmlns:a16="http://schemas.microsoft.com/office/drawing/2014/main" val="33631968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GB" sz="1800" b="1" i="1">
                          <a:solidFill>
                            <a:srgbClr val="293E53"/>
                          </a:solidFill>
                          <a:effectLst/>
                          <a:latin typeface="Aptos"/>
                        </a:rPr>
                        <a:t>State Variable</a:t>
                      </a:r>
                      <a:endParaRPr lang="en-US" b="1" i="0">
                        <a:solidFill>
                          <a:srgbClr val="293E53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marT="66675" marB="66675" anchor="ctr">
                    <a:lnL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GB" sz="1800" b="0" i="1">
                          <a:solidFill>
                            <a:srgbClr val="293E53"/>
                          </a:solidFill>
                          <a:effectLst/>
                          <a:latin typeface="Aptos"/>
                        </a:rPr>
                        <a:t>Input Flows</a:t>
                      </a:r>
                      <a:endParaRPr lang="en-US" b="0" i="0">
                        <a:solidFill>
                          <a:srgbClr val="293E53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marT="66675" marB="66675" anchor="ctr">
                    <a:lnL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GB" sz="1800" b="0" i="1">
                          <a:solidFill>
                            <a:srgbClr val="293E53"/>
                          </a:solidFill>
                          <a:effectLst/>
                          <a:latin typeface="Aptos"/>
                        </a:rPr>
                        <a:t>Output Flows</a:t>
                      </a:r>
                      <a:endParaRPr lang="en-US" b="0" i="0">
                        <a:solidFill>
                          <a:srgbClr val="293E53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marT="66675" marB="66675" anchor="ctr">
                    <a:lnL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811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GB" sz="1800" b="0" i="0">
                          <a:solidFill>
                            <a:srgbClr val="293E53"/>
                          </a:solidFill>
                          <a:effectLst/>
                          <a:latin typeface="Aptos"/>
                        </a:rPr>
                        <a:t>Adult Whitefish</a:t>
                      </a:r>
                      <a:endParaRPr lang="en-US" b="0" i="0">
                        <a:solidFill>
                          <a:srgbClr val="293E53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marT="66675" marB="66675" anchor="ctr">
                    <a:lnL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GB" sz="1800" b="0" i="0">
                          <a:solidFill>
                            <a:srgbClr val="293E53"/>
                          </a:solidFill>
                          <a:effectLst/>
                          <a:latin typeface="Aptos"/>
                        </a:rPr>
                        <a:t>Maturation</a:t>
                      </a:r>
                      <a:endParaRPr lang="en-US" b="0" i="0">
                        <a:solidFill>
                          <a:srgbClr val="293E53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marT="66675" marB="66675" anchor="ctr">
                    <a:lnL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0">
                          <a:solidFill>
                            <a:srgbClr val="293E53"/>
                          </a:solidFill>
                          <a:effectLst/>
                          <a:latin typeface="Aptos"/>
                        </a:rPr>
                        <a:t>Natural death</a:t>
                      </a:r>
                      <a:endParaRPr lang="en-US" sz="1400" b="0" i="0">
                        <a:solidFill>
                          <a:srgbClr val="293E53"/>
                        </a:solidFill>
                        <a:effectLst/>
                        <a:latin typeface="Aptos"/>
                      </a:endParaRPr>
                    </a:p>
                    <a:p>
                      <a:pPr marL="0" lvl="0" indent="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0">
                          <a:solidFill>
                            <a:srgbClr val="293E53"/>
                          </a:solidFill>
                          <a:effectLst/>
                          <a:latin typeface="Aptos"/>
                        </a:rPr>
                        <a:t>Catch</a:t>
                      </a:r>
                      <a:endParaRPr lang="en-US" sz="1400" b="0" i="0">
                        <a:solidFill>
                          <a:srgbClr val="293E53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marT="66675" marB="66675" anchor="ctr">
                    <a:lnL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758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GB" sz="1800" b="0" i="0">
                          <a:solidFill>
                            <a:srgbClr val="293E53"/>
                          </a:solidFill>
                          <a:effectLst/>
                          <a:latin typeface="Aptos"/>
                        </a:rPr>
                        <a:t>Young Whitefish</a:t>
                      </a:r>
                      <a:endParaRPr lang="en-US" b="0" i="0">
                        <a:solidFill>
                          <a:srgbClr val="293E53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marT="66675" marB="66675" anchor="ctr">
                    <a:lnL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GB" sz="1800" b="0" i="0">
                          <a:solidFill>
                            <a:srgbClr val="293E53"/>
                          </a:solidFill>
                          <a:effectLst/>
                          <a:latin typeface="Aptos"/>
                        </a:rPr>
                        <a:t>Recruitment</a:t>
                      </a:r>
                      <a:endParaRPr lang="en-US" b="0" i="0">
                        <a:solidFill>
                          <a:srgbClr val="293E53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marT="66675" marB="66675" anchor="ctr">
                    <a:lnL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0">
                          <a:solidFill>
                            <a:srgbClr val="293E53"/>
                          </a:solidFill>
                          <a:effectLst/>
                          <a:latin typeface="Aptos"/>
                        </a:rPr>
                        <a:t>Maturation</a:t>
                      </a:r>
                      <a:endParaRPr lang="en-US" sz="1400" b="0" i="0">
                        <a:solidFill>
                          <a:srgbClr val="293E53"/>
                        </a:solidFill>
                        <a:effectLst/>
                        <a:latin typeface="Aptos"/>
                      </a:endParaRPr>
                    </a:p>
                    <a:p>
                      <a:pPr marL="0" lvl="0" indent="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0">
                          <a:solidFill>
                            <a:srgbClr val="293E53"/>
                          </a:solidFill>
                          <a:effectLst/>
                          <a:latin typeface="Aptos"/>
                        </a:rPr>
                        <a:t>Young mortality</a:t>
                      </a:r>
                      <a:endParaRPr lang="en-US" sz="1400" b="0" i="0">
                        <a:solidFill>
                          <a:srgbClr val="293E53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marT="66675" marB="66675" anchor="ctr">
                    <a:lnL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752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GB" sz="1800" b="0" i="0">
                          <a:solidFill>
                            <a:srgbClr val="293E53"/>
                          </a:solidFill>
                          <a:effectLst/>
                          <a:latin typeface="Aptos"/>
                        </a:rPr>
                        <a:t>Zooplankton</a:t>
                      </a:r>
                      <a:endParaRPr lang="en-US" b="0" i="0">
                        <a:solidFill>
                          <a:srgbClr val="293E53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marT="66675" marB="66675" anchor="ctr">
                    <a:lnL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GB" sz="1800" b="0" i="0">
                          <a:solidFill>
                            <a:srgbClr val="293E53"/>
                          </a:solidFill>
                          <a:effectLst/>
                          <a:latin typeface="Aptos"/>
                        </a:rPr>
                        <a:t>Zooplankton growth</a:t>
                      </a:r>
                      <a:endParaRPr lang="en-US" b="0" i="0">
                        <a:solidFill>
                          <a:srgbClr val="293E53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marT="66675" marB="66675" anchor="ctr">
                    <a:lnL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0">
                          <a:solidFill>
                            <a:srgbClr val="293E53"/>
                          </a:solidFill>
                          <a:effectLst/>
                          <a:latin typeface="Aptos"/>
                        </a:rPr>
                        <a:t>Zooplankton mortality</a:t>
                      </a:r>
                      <a:endParaRPr lang="en-US" sz="1400" b="0" i="0">
                        <a:solidFill>
                          <a:srgbClr val="293E53"/>
                        </a:solidFill>
                        <a:effectLst/>
                        <a:latin typeface="Aptos"/>
                      </a:endParaRPr>
                    </a:p>
                    <a:p>
                      <a:pPr marL="0" lvl="0" indent="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0">
                          <a:solidFill>
                            <a:srgbClr val="293E53"/>
                          </a:solidFill>
                          <a:effectLst/>
                          <a:latin typeface="Aptos"/>
                        </a:rPr>
                        <a:t>Grazing by whitefish</a:t>
                      </a:r>
                      <a:endParaRPr lang="en-US" sz="1400" b="0" i="0">
                        <a:solidFill>
                          <a:srgbClr val="293E53"/>
                        </a:solidFill>
                        <a:effectLst/>
                        <a:latin typeface="Aptos"/>
                      </a:endParaRPr>
                    </a:p>
                    <a:p>
                      <a:pPr marL="0" lvl="0" indent="0"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GB" sz="1800" b="0" i="0">
                          <a:solidFill>
                            <a:srgbClr val="293E53"/>
                          </a:solidFill>
                          <a:effectLst/>
                          <a:latin typeface="Aptos"/>
                        </a:rPr>
                        <a:t>Grazing by stickleback</a:t>
                      </a:r>
                      <a:endParaRPr lang="en-US" sz="1400" b="0" i="0">
                        <a:solidFill>
                          <a:srgbClr val="293E53"/>
                        </a:solidFill>
                        <a:effectLst/>
                        <a:latin typeface="Aptos"/>
                      </a:endParaRPr>
                    </a:p>
                  </a:txBody>
                  <a:tcPr marL="66675" marR="66675" marT="66675" marB="66675" anchor="ctr">
                    <a:lnL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0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904952"/>
                  </a:ext>
                </a:extLst>
              </a:tr>
            </a:tbl>
          </a:graphicData>
        </a:graphic>
      </p:graphicFrame>
      <p:sp>
        <p:nvSpPr>
          <p:cNvPr id="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F4B49E-A5C1-1FE9-79FC-3823B10EE5DA}"/>
              </a:ext>
            </a:extLst>
          </p:cNvPr>
          <p:cNvSpPr txBox="1"/>
          <p:nvPr/>
        </p:nvSpPr>
        <p:spPr>
          <a:xfrm>
            <a:off x="1217199" y="5590499"/>
            <a:ext cx="976990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>
                <a:solidFill>
                  <a:srgbClr val="293E53"/>
                </a:solidFill>
              </a:rPr>
              <a:t>Auxiliary Variables</a:t>
            </a:r>
            <a:r>
              <a:rPr lang="en-GB">
                <a:solidFill>
                  <a:srgbClr val="293E53"/>
                </a:solidFill>
              </a:rPr>
              <a:t>: Food effect, Oxygen effect, Stickleback egg effect, Stickleback pressure, Phosphorus concentration, Deep water oxygen, Observed catch </a:t>
            </a:r>
            <a:endParaRPr lang="en-US">
              <a:solidFill>
                <a:srgbClr val="293E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403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B3DEA-8160-B0EA-70AC-B7E5B1760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4C0845-1797-424C-3070-8124C2F4D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de-CH" b="1">
                <a:solidFill>
                  <a:srgbClr val="173F5F"/>
                </a:solidFill>
                <a:latin typeface="Aptos Display"/>
              </a:rPr>
              <a:t>Model - ODE’s</a:t>
            </a:r>
            <a:endParaRPr lang="de-CH" sz="6600"/>
          </a:p>
        </p:txBody>
      </p:sp>
      <p:sp>
        <p:nvSpPr>
          <p:cNvPr id="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Content Placeholder 20">
                <a:extLst>
                  <a:ext uri="{FF2B5EF4-FFF2-40B4-BE49-F238E27FC236}">
                    <a16:creationId xmlns:a16="http://schemas.microsoft.com/office/drawing/2014/main" id="{5B102537-9D65-54E1-5CDB-F1CC3337541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13518109"/>
                  </p:ext>
                </p:extLst>
              </p:nvPr>
            </p:nvGraphicFramePr>
            <p:xfrm>
              <a:off x="838200" y="2210186"/>
              <a:ext cx="10515599" cy="3132646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2178599">
                      <a:extLst>
                        <a:ext uri="{9D8B030D-6E8A-4147-A177-3AD203B41FA5}">
                          <a16:colId xmlns:a16="http://schemas.microsoft.com/office/drawing/2014/main" val="3825816020"/>
                        </a:ext>
                      </a:extLst>
                    </a:gridCol>
                    <a:gridCol w="8337000">
                      <a:extLst>
                        <a:ext uri="{9D8B030D-6E8A-4147-A177-3AD203B41FA5}">
                          <a16:colId xmlns:a16="http://schemas.microsoft.com/office/drawing/2014/main" val="658443537"/>
                        </a:ext>
                      </a:extLst>
                    </a:gridCol>
                  </a:tblGrid>
                  <a:tr h="247650">
                    <a:tc>
                      <a:txBody>
                        <a:bodyPr/>
                        <a:lstStyle/>
                        <a:p>
                          <a:pPr marL="0" marR="0" indent="0" algn="l" rtl="0" fontAlgn="base">
                            <a:buNone/>
                          </a:pPr>
                          <a:r>
                            <a:rPr lang="en-GB" sz="1100" b="0" i="1">
                              <a:solidFill>
                                <a:srgbClr val="293E53"/>
                              </a:solidFill>
                              <a:effectLst/>
                              <a:latin typeface="Arial"/>
                            </a:rPr>
                            <a:t>Variable</a:t>
                          </a:r>
                          <a:r>
                            <a:rPr lang="en-GB" sz="1100" b="0" i="0">
                              <a:solidFill>
                                <a:srgbClr val="293E53"/>
                              </a:solidFill>
                              <a:effectLst/>
                              <a:latin typeface="Arial"/>
                            </a:rPr>
                            <a:t> </a:t>
                          </a:r>
                          <a:endParaRPr lang="en-GB" sz="900" b="0" i="0">
                            <a:solidFill>
                              <a:srgbClr val="293E53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66675" marR="66675">
                        <a:lnL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rtl="0" fontAlgn="base">
                            <a:buNone/>
                          </a:pPr>
                          <a:r>
                            <a:rPr lang="en-GB" sz="1100" b="0" i="1">
                              <a:solidFill>
                                <a:srgbClr val="293E53"/>
                              </a:solidFill>
                              <a:effectLst/>
                              <a:latin typeface="Arial"/>
                            </a:rPr>
                            <a:t>ODE</a:t>
                          </a:r>
                          <a:r>
                            <a:rPr lang="en-GB" sz="1100" b="0" i="0">
                              <a:solidFill>
                                <a:srgbClr val="293E53"/>
                              </a:solidFill>
                              <a:effectLst/>
                              <a:latin typeface="Arial"/>
                            </a:rPr>
                            <a:t> </a:t>
                          </a:r>
                          <a:endParaRPr lang="en-GB" sz="900" b="0" i="0">
                            <a:solidFill>
                              <a:srgbClr val="293E53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66675" marR="66675">
                        <a:lnL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53876897"/>
                      </a:ext>
                    </a:extLst>
                  </a:tr>
                  <a:tr h="247650">
                    <a:tc>
                      <a:txBody>
                        <a:bodyPr/>
                        <a:lstStyle/>
                        <a:p>
                          <a:pPr marL="0" marR="0" indent="0" algn="l" rtl="0" fontAlgn="base">
                            <a:buNone/>
                          </a:pPr>
                          <a:r>
                            <a:rPr lang="en-GB" sz="1100" b="0" i="0">
                              <a:solidFill>
                                <a:srgbClr val="293E53"/>
                              </a:solidFill>
                              <a:effectLst/>
                              <a:latin typeface="Arial"/>
                            </a:rPr>
                            <a:t>Adult Whitefish </a:t>
                          </a:r>
                          <a:endParaRPr lang="en-GB" sz="900" b="0" i="0">
                            <a:solidFill>
                              <a:srgbClr val="293E53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66675" marR="66675">
                        <a:lnL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fontAlgn="auto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150" i="1" dirty="0">
                                        <a:solidFill>
                                          <a:srgbClr val="293E5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i="1" dirty="0">
                                        <a:solidFill>
                                          <a:srgbClr val="293E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GB" i="0" dirty="0">
                                        <a:solidFill>
                                          <a:srgbClr val="293E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GB" i="1" dirty="0">
                                        <a:solidFill>
                                          <a:srgbClr val="293E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𝑑𝑢𝑙𝑡</m:t>
                                    </m:r>
                                    <m:r>
                                      <a:rPr lang="en-GB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𝑊h𝑖𝑡𝑒𝑓𝑖𝑠h</m:t>
                                    </m:r>
                                  </m:num>
                                  <m:den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en-GB" i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𝑀𝑎𝑡𝑢𝑟𝑎𝑡𝑖𝑜𝑛</m:t>
                                </m:r>
                                <m:r>
                                  <a:rPr lang="en-GB" i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𝑁𝑎𝑡𝑢𝑟𝑎𝑙</m:t>
                                </m:r>
                                <m:r>
                                  <a:rPr lang="en-GB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𝐷𝑒𝑎𝑡h</m:t>
                                </m:r>
                                <m:r>
                                  <a:rPr lang="en-GB" i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𝐶𝑎𝑡𝑐h</m:t>
                                </m:r>
                              </m:oMath>
                            </m:oMathPara>
                          </a14:m>
                          <a:endParaRPr lang="en-GB" sz="1166" b="0" i="0" u="none" strike="noStrike">
                            <a:solidFill>
                              <a:srgbClr val="000000"/>
                            </a:solidFill>
                            <a:effectLst/>
                            <a:latin typeface="MathJax_Math-italic"/>
                          </a:endParaRPr>
                        </a:p>
                        <a:p>
                          <a:pPr marL="0" marR="0" algn="l" rtl="0" fontAlgn="t">
                            <a:buNone/>
                          </a:pPr>
                          <a:r>
                            <a:rPr lang="en-GB" sz="1100" b="0" i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  </a:t>
                          </a:r>
                          <a:endParaRPr lang="en-GB" sz="900" b="0" i="0">
                            <a:solidFill>
                              <a:srgbClr val="00000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  <a:p>
                          <a:pPr marL="0" marR="0" indent="0" algn="l" rtl="0" fontAlgn="base">
                            <a:buNone/>
                          </a:pPr>
                          <a:endParaRPr lang="en-GB" sz="900" b="0" i="0">
                            <a:solidFill>
                              <a:srgbClr val="00000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66675" marR="66675">
                        <a:lnL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33563528"/>
                      </a:ext>
                    </a:extLst>
                  </a:tr>
                  <a:tr h="247650">
                    <a:tc>
                      <a:txBody>
                        <a:bodyPr/>
                        <a:lstStyle/>
                        <a:p>
                          <a:pPr marL="0" marR="0" indent="0" algn="l" rtl="0" fontAlgn="base">
                            <a:buNone/>
                          </a:pPr>
                          <a:r>
                            <a:rPr lang="en-GB" sz="1100" b="0" i="0">
                              <a:solidFill>
                                <a:srgbClr val="293E53"/>
                              </a:solidFill>
                              <a:effectLst/>
                              <a:latin typeface="Arial"/>
                            </a:rPr>
                            <a:t>Young Whitefish </a:t>
                          </a:r>
                          <a:endParaRPr lang="en-GB" sz="900" b="0" i="0">
                            <a:solidFill>
                              <a:srgbClr val="293E53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66675" marR="66675">
                        <a:lnL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fontAlgn="auto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150" i="1" dirty="0">
                                        <a:solidFill>
                                          <a:srgbClr val="293E5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i="1" dirty="0">
                                        <a:solidFill>
                                          <a:srgbClr val="293E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  <m:r>
                                      <a:rPr lang="en-GB" i="0" dirty="0">
                                        <a:solidFill>
                                          <a:srgbClr val="293E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GB" i="1" dirty="0">
                                        <a:solidFill>
                                          <a:srgbClr val="293E53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𝑜𝑢𝑛𝑔</m:t>
                                    </m:r>
                                    <m:r>
                                      <a:rPr lang="en-GB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𝑊h𝑖𝑡𝑒𝑓𝑖𝑠h</m:t>
                                    </m:r>
                                  </m:num>
                                  <m:den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en-GB" i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𝑅𝑒𝑐𝑟𝑢𝑖𝑡𝑚𝑒𝑛𝑡</m:t>
                                </m:r>
                                <m:r>
                                  <a:rPr lang="en-GB" i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𝑀𝑎𝑡𝑢𝑟𝑎𝑡𝑖𝑜𝑛</m:t>
                                </m:r>
                                <m:r>
                                  <a:rPr lang="en-GB" i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𝑌𝑜𝑢𝑛𝑔</m:t>
                                </m:r>
                                <m:r>
                                  <a:rPr lang="en-GB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𝑀𝑜𝑟𝑡𝑎𝑙𝑖𝑡𝑦</m:t>
                                </m:r>
                              </m:oMath>
                            </m:oMathPara>
                          </a14:m>
                          <a:endParaRPr lang="en-GB" sz="1166" b="0" i="0" u="none" strike="noStrike">
                            <a:solidFill>
                              <a:srgbClr val="000000"/>
                            </a:solidFill>
                            <a:effectLst/>
                            <a:latin typeface="MathJax_Math-italic"/>
                          </a:endParaRPr>
                        </a:p>
                        <a:p>
                          <a:pPr marL="0" marR="0" algn="l" rtl="0" fontAlgn="t">
                            <a:buNone/>
                          </a:pPr>
                          <a:r>
                            <a:rPr lang="en-GB" sz="1100" b="0" i="0">
                              <a:solidFill>
                                <a:srgbClr val="000000"/>
                              </a:solidFill>
                              <a:effectLst/>
                              <a:latin typeface="Arial" panose="020B0604020202020204" pitchFamily="34" charset="0"/>
                            </a:rPr>
                            <a:t>  </a:t>
                          </a:r>
                          <a:endParaRPr lang="en-GB" sz="900" b="0" i="0">
                            <a:solidFill>
                              <a:srgbClr val="00000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  <a:p>
                          <a:pPr marL="0" marR="0" indent="0" algn="l" rtl="0" fontAlgn="base">
                            <a:buNone/>
                          </a:pPr>
                          <a:endParaRPr lang="en-GB" sz="900" b="0" i="0">
                            <a:solidFill>
                              <a:srgbClr val="00000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66675" marR="66675">
                        <a:lnL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17498923"/>
                      </a:ext>
                    </a:extLst>
                  </a:tr>
                  <a:tr h="247650">
                    <a:tc>
                      <a:txBody>
                        <a:bodyPr/>
                        <a:lstStyle/>
                        <a:p>
                          <a:pPr marL="0" marR="0" indent="0" algn="l" rtl="0" fontAlgn="base">
                            <a:buNone/>
                          </a:pPr>
                          <a:r>
                            <a:rPr lang="en-GB" sz="1100" b="0" i="0">
                              <a:solidFill>
                                <a:srgbClr val="293E53"/>
                              </a:solidFill>
                              <a:effectLst/>
                              <a:latin typeface="Arial"/>
                            </a:rPr>
                            <a:t>Zooplankton  </a:t>
                          </a:r>
                          <a:endParaRPr lang="en-GB" sz="900" b="0" i="0">
                            <a:solidFill>
                              <a:srgbClr val="293E53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66675" marR="66675">
                        <a:lnL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rtl="0" fontAlgn="auto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150" i="1" dirty="0">
                                        <a:solidFill>
                                          <a:srgbClr val="293E5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i="1" dirty="0">
                                        <a:solidFill>
                                          <a:srgbClr val="293E53"/>
                                        </a:solidFill>
                                        <a:latin typeface="Cambria Math"/>
                                      </a:rPr>
                                      <m:t>𝑑</m:t>
                                    </m:r>
                                    <m:r>
                                      <a:rPr lang="en-GB" i="0" dirty="0">
                                        <a:solidFill>
                                          <a:srgbClr val="293E53"/>
                                        </a:solidFill>
                                        <a:latin typeface="Cambria Math"/>
                                      </a:rPr>
                                      <m:t> </m:t>
                                    </m:r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𝑍𝑜𝑜𝑝𝑙𝑎𝑛𝑘𝑡𝑜𝑛</m:t>
                                    </m:r>
                                  </m:num>
                                  <m:den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𝑑𝑡</m:t>
                                    </m:r>
                                  </m:den>
                                </m:f>
                                <m:r>
                                  <a:rPr lang="en-GB" i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𝑍𝑜𝑜𝑝𝑙𝑎𝑛𝑘𝑡𝑜𝑛</m:t>
                                </m:r>
                                <m:r>
                                  <a:rPr lang="en-GB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𝐺𝑟𝑜𝑤𝑡h</m:t>
                                </m:r>
                                <m:r>
                                  <a:rPr lang="en-GB" i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𝑍𝑜𝑜𝑝𝑙𝑎𝑛𝑘𝑡𝑜𝑛</m:t>
                                </m:r>
                                <m:r>
                                  <a:rPr lang="en-GB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𝑀𝑜𝑟𝑡𝑎𝑙𝑖𝑡𝑦</m:t>
                                </m:r>
                                <m:r>
                                  <a:rPr lang="en-GB" i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𝐺𝑟𝑎𝑧𝑖𝑛𝑔</m:t>
                                </m:r>
                                <m:r>
                                  <a:rPr lang="en-GB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𝑊h𝑖𝑡𝑒𝑓𝑖𝑠h</m:t>
                                </m:r>
                                <m:r>
                                  <a:rPr lang="en-GB" i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𝐺𝑟𝑎𝑧𝑖𝑛𝑔</m:t>
                                </m:r>
                                <m:r>
                                  <a:rPr lang="en-GB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i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𝑆𝑡𝑖𝑐𝑘𝑙𝑒𝑏𝑎𝑐𝑘𝑠</m:t>
                                </m:r>
                              </m:oMath>
                            </m:oMathPara>
                          </a14:m>
                          <a:endParaRPr lang="en-GB" sz="1166" b="0" i="0" u="none" strike="noStrike">
                            <a:solidFill>
                              <a:srgbClr val="000000"/>
                            </a:solidFill>
                            <a:effectLst/>
                            <a:latin typeface="MathJax_Math-italic"/>
                          </a:endParaRPr>
                        </a:p>
                        <a:p>
                          <a:pPr marL="0" marR="0" algn="l" rtl="0" fontAlgn="t">
                            <a:buNone/>
                          </a:pPr>
                          <a:r>
                            <a:rPr lang="en-GB" sz="1100" b="0" i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a:t>  </a:t>
                          </a:r>
                          <a:endParaRPr lang="en-GB" sz="900" b="0" i="0">
                            <a:solidFill>
                              <a:srgbClr val="000000"/>
                            </a:solidFill>
                            <a:effectLst/>
                            <a:latin typeface="Segoe UI" panose="020B0502040204020203" pitchFamily="34" charset="0"/>
                          </a:endParaRPr>
                        </a:p>
                      </a:txBody>
                      <a:tcPr marL="66675" marR="66675">
                        <a:lnL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06466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Content Placeholder 20">
                <a:extLst>
                  <a:ext uri="{FF2B5EF4-FFF2-40B4-BE49-F238E27FC236}">
                    <a16:creationId xmlns:a16="http://schemas.microsoft.com/office/drawing/2014/main" id="{5B102537-9D65-54E1-5CDB-F1CC3337541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613518109"/>
                  </p:ext>
                </p:extLst>
              </p:nvPr>
            </p:nvGraphicFramePr>
            <p:xfrm>
              <a:off x="838200" y="2210186"/>
              <a:ext cx="10515599" cy="3132646"/>
            </p:xfrm>
            <a:graphic>
              <a:graphicData uri="http://schemas.openxmlformats.org/drawingml/2006/table">
                <a:tbl>
                  <a:tblPr bandRow="1">
                    <a:tableStyleId>{5C22544A-7EE6-4342-B048-85BDC9FD1C3A}</a:tableStyleId>
                  </a:tblPr>
                  <a:tblGrid>
                    <a:gridCol w="2178599">
                      <a:extLst>
                        <a:ext uri="{9D8B030D-6E8A-4147-A177-3AD203B41FA5}">
                          <a16:colId xmlns:a16="http://schemas.microsoft.com/office/drawing/2014/main" val="3825816020"/>
                        </a:ext>
                      </a:extLst>
                    </a:gridCol>
                    <a:gridCol w="8337000">
                      <a:extLst>
                        <a:ext uri="{9D8B030D-6E8A-4147-A177-3AD203B41FA5}">
                          <a16:colId xmlns:a16="http://schemas.microsoft.com/office/drawing/2014/main" val="658443537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marL="0" marR="0" indent="0" algn="l" rtl="0" fontAlgn="base">
                            <a:buNone/>
                          </a:pPr>
                          <a:r>
                            <a:rPr lang="en-GB" sz="1100" b="0" i="1">
                              <a:solidFill>
                                <a:srgbClr val="293E53"/>
                              </a:solidFill>
                              <a:effectLst/>
                              <a:latin typeface="Arial"/>
                            </a:rPr>
                            <a:t>Variable</a:t>
                          </a:r>
                          <a:r>
                            <a:rPr lang="en-GB" sz="1100" b="0" i="0">
                              <a:solidFill>
                                <a:srgbClr val="293E53"/>
                              </a:solidFill>
                              <a:effectLst/>
                              <a:latin typeface="Arial"/>
                            </a:rPr>
                            <a:t> </a:t>
                          </a:r>
                          <a:endParaRPr lang="en-GB" sz="900" b="0" i="0">
                            <a:solidFill>
                              <a:srgbClr val="293E53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66675" marR="66675">
                        <a:lnL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rtl="0" fontAlgn="base">
                            <a:buNone/>
                          </a:pPr>
                          <a:r>
                            <a:rPr lang="en-GB" sz="1100" b="0" i="1">
                              <a:solidFill>
                                <a:srgbClr val="293E53"/>
                              </a:solidFill>
                              <a:effectLst/>
                              <a:latin typeface="Arial"/>
                            </a:rPr>
                            <a:t>ODE</a:t>
                          </a:r>
                          <a:r>
                            <a:rPr lang="en-GB" sz="1100" b="0" i="0">
                              <a:solidFill>
                                <a:srgbClr val="293E53"/>
                              </a:solidFill>
                              <a:effectLst/>
                              <a:latin typeface="Arial"/>
                            </a:rPr>
                            <a:t> </a:t>
                          </a:r>
                          <a:endParaRPr lang="en-GB" sz="900" b="0" i="0">
                            <a:solidFill>
                              <a:srgbClr val="293E53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66675" marR="66675">
                        <a:lnL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53876897"/>
                      </a:ext>
                    </a:extLst>
                  </a:tr>
                  <a:tr h="835787">
                    <a:tc>
                      <a:txBody>
                        <a:bodyPr/>
                        <a:lstStyle/>
                        <a:p>
                          <a:pPr marL="0" marR="0" indent="0" algn="l" rtl="0" fontAlgn="base">
                            <a:buNone/>
                          </a:pPr>
                          <a:r>
                            <a:rPr lang="en-GB" sz="1100" b="0" i="0">
                              <a:solidFill>
                                <a:srgbClr val="293E53"/>
                              </a:solidFill>
                              <a:effectLst/>
                              <a:latin typeface="Arial"/>
                            </a:rPr>
                            <a:t>Adult Whitefish </a:t>
                          </a:r>
                          <a:endParaRPr lang="en-GB" sz="900" b="0" i="0">
                            <a:solidFill>
                              <a:srgbClr val="293E53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66675" marR="66675">
                        <a:lnL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675" marR="66675">
                        <a:lnL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243" t="-32117" r="-146" b="-2459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3563528"/>
                      </a:ext>
                    </a:extLst>
                  </a:tr>
                  <a:tr h="835787">
                    <a:tc>
                      <a:txBody>
                        <a:bodyPr/>
                        <a:lstStyle/>
                        <a:p>
                          <a:pPr marL="0" marR="0" indent="0" algn="l" rtl="0" fontAlgn="base">
                            <a:buNone/>
                          </a:pPr>
                          <a:r>
                            <a:rPr lang="en-GB" sz="1100" b="0" i="0">
                              <a:solidFill>
                                <a:srgbClr val="293E53"/>
                              </a:solidFill>
                              <a:effectLst/>
                              <a:latin typeface="Arial"/>
                            </a:rPr>
                            <a:t>Young Whitefish </a:t>
                          </a:r>
                          <a:endParaRPr lang="en-GB" sz="900" b="0" i="0">
                            <a:solidFill>
                              <a:srgbClr val="293E53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66675" marR="66675">
                        <a:lnL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675" marR="66675">
                        <a:lnL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243" t="-132117" r="-146" b="-1459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17498923"/>
                      </a:ext>
                    </a:extLst>
                  </a:tr>
                  <a:tr h="1201992">
                    <a:tc>
                      <a:txBody>
                        <a:bodyPr/>
                        <a:lstStyle/>
                        <a:p>
                          <a:pPr marL="0" marR="0" indent="0" algn="l" rtl="0" fontAlgn="base">
                            <a:buNone/>
                          </a:pPr>
                          <a:r>
                            <a:rPr lang="en-GB" sz="1100" b="0" i="0">
                              <a:solidFill>
                                <a:srgbClr val="293E53"/>
                              </a:solidFill>
                              <a:effectLst/>
                              <a:latin typeface="Arial"/>
                            </a:rPr>
                            <a:t>Zooplankton  </a:t>
                          </a:r>
                          <a:endParaRPr lang="en-GB" sz="900" b="0" i="0">
                            <a:solidFill>
                              <a:srgbClr val="293E53"/>
                            </a:solidFill>
                            <a:effectLst/>
                            <a:latin typeface="Arial"/>
                          </a:endParaRPr>
                        </a:p>
                      </a:txBody>
                      <a:tcPr marL="66675" marR="66675">
                        <a:lnL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6675" marR="66675">
                        <a:lnL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243" t="-160606" r="-146" b="-10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06466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10696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241394-B248-3086-04EE-3CE76AB20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9086BF-AC13-4627-CB57-28FADB8F2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de-CH" b="1">
                <a:solidFill>
                  <a:srgbClr val="173F5F"/>
                </a:solidFill>
                <a:latin typeface="Aptos Display"/>
              </a:rPr>
              <a:t>Model - </a:t>
            </a:r>
            <a:r>
              <a:rPr lang="de-CH" b="1" err="1">
                <a:solidFill>
                  <a:srgbClr val="173F5F"/>
                </a:solidFill>
                <a:latin typeface="Aptos Display"/>
              </a:rPr>
              <a:t>Overview</a:t>
            </a:r>
            <a:endParaRPr lang="de-CH" sz="6600"/>
          </a:p>
        </p:txBody>
      </p:sp>
      <p:sp>
        <p:nvSpPr>
          <p:cNvPr id="4" name="Academic blue title accent">
            <a:extLst>
              <a:ext uri="{FF2B5EF4-FFF2-40B4-BE49-F238E27FC236}">
                <a16:creationId xmlns:a16="http://schemas.microsoft.com/office/drawing/2014/main" id="{751DE1C4-F448-4626-06BC-A219A4DEA745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ademic cyan title accent">
            <a:extLst>
              <a:ext uri="{FF2B5EF4-FFF2-40B4-BE49-F238E27FC236}">
                <a16:creationId xmlns:a16="http://schemas.microsoft.com/office/drawing/2014/main" id="{F2C0EA9C-4C91-58AF-7A18-6696D5271F2A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blue title accent">
            <a:extLst>
              <a:ext uri="{FF2B5EF4-FFF2-40B4-BE49-F238E27FC236}">
                <a16:creationId xmlns:a16="http://schemas.microsoft.com/office/drawing/2014/main" id="{1A0B6065-45C2-1ED8-1B55-8D7C26D20DA2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cyan title accent">
            <a:extLst>
              <a:ext uri="{FF2B5EF4-FFF2-40B4-BE49-F238E27FC236}">
                <a16:creationId xmlns:a16="http://schemas.microsoft.com/office/drawing/2014/main" id="{E04A24EA-029F-3880-70A0-081E398CE1AD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blue title accent">
            <a:extLst>
              <a:ext uri="{FF2B5EF4-FFF2-40B4-BE49-F238E27FC236}">
                <a16:creationId xmlns:a16="http://schemas.microsoft.com/office/drawing/2014/main" id="{85509E7F-1C66-8998-8382-8E9B42FE4AB8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cyan title accent">
            <a:extLst>
              <a:ext uri="{FF2B5EF4-FFF2-40B4-BE49-F238E27FC236}">
                <a16:creationId xmlns:a16="http://schemas.microsoft.com/office/drawing/2014/main" id="{16C33D54-A004-DB9C-4E0F-9961314858AF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blue title accent">
            <a:extLst>
              <a:ext uri="{FF2B5EF4-FFF2-40B4-BE49-F238E27FC236}">
                <a16:creationId xmlns:a16="http://schemas.microsoft.com/office/drawing/2014/main" id="{38182477-30C4-69A1-C688-090924D32952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cyan title accent">
            <a:extLst>
              <a:ext uri="{FF2B5EF4-FFF2-40B4-BE49-F238E27FC236}">
                <a16:creationId xmlns:a16="http://schemas.microsoft.com/office/drawing/2014/main" id="{2657AAD4-E414-EDA9-56F0-BEE3A01CDA0B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blue title accent">
            <a:extLst>
              <a:ext uri="{FF2B5EF4-FFF2-40B4-BE49-F238E27FC236}">
                <a16:creationId xmlns:a16="http://schemas.microsoft.com/office/drawing/2014/main" id="{ABA1DE03-980E-3D8C-A4EF-01F6F71DF366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cyan title accent">
            <a:extLst>
              <a:ext uri="{FF2B5EF4-FFF2-40B4-BE49-F238E27FC236}">
                <a16:creationId xmlns:a16="http://schemas.microsoft.com/office/drawing/2014/main" id="{4340E212-B4B1-FAF7-C132-A320F7964BA4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cademic blue title accent">
            <a:extLst>
              <a:ext uri="{FF2B5EF4-FFF2-40B4-BE49-F238E27FC236}">
                <a16:creationId xmlns:a16="http://schemas.microsoft.com/office/drawing/2014/main" id="{B17D74AF-111A-8B37-4187-2567FA6E7F0A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cyan title accent">
            <a:extLst>
              <a:ext uri="{FF2B5EF4-FFF2-40B4-BE49-F238E27FC236}">
                <a16:creationId xmlns:a16="http://schemas.microsoft.com/office/drawing/2014/main" id="{82810990-EF9A-2C94-F1C3-19C131DB2921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blue title accent">
            <a:extLst>
              <a:ext uri="{FF2B5EF4-FFF2-40B4-BE49-F238E27FC236}">
                <a16:creationId xmlns:a16="http://schemas.microsoft.com/office/drawing/2014/main" id="{86E58C96-620E-DC5B-E0A0-3FC276131EBC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ademic cyan title accent">
            <a:extLst>
              <a:ext uri="{FF2B5EF4-FFF2-40B4-BE49-F238E27FC236}">
                <a16:creationId xmlns:a16="http://schemas.microsoft.com/office/drawing/2014/main" id="{70E6EFCE-7E2C-E87C-B116-45F4001D4F11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Content Placeholder 19" descr="A diagram of food processing&#10;&#10;AI-generated content may be incorrect.">
            <a:extLst>
              <a:ext uri="{FF2B5EF4-FFF2-40B4-BE49-F238E27FC236}">
                <a16:creationId xmlns:a16="http://schemas.microsoft.com/office/drawing/2014/main" id="{6A51DA88-206A-2B81-9731-AEC8021F3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2053" y="1713489"/>
            <a:ext cx="8507895" cy="477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321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5BCB02-C023-D3C3-4771-D82E0EBA5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6B56AD-F59D-2221-6A26-AA08EC0F9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de-CH" b="1">
                <a:solidFill>
                  <a:srgbClr val="173F5F"/>
                </a:solidFill>
                <a:latin typeface="Aptos Display"/>
              </a:rPr>
              <a:t>Model - </a:t>
            </a:r>
            <a:r>
              <a:rPr lang="de-CH" b="1" err="1">
                <a:solidFill>
                  <a:srgbClr val="173F5F"/>
                </a:solidFill>
                <a:latin typeface="Aptos Display"/>
              </a:rPr>
              <a:t>Overview</a:t>
            </a:r>
            <a:endParaRPr lang="de-CH" sz="6600"/>
          </a:p>
        </p:txBody>
      </p:sp>
      <p:sp>
        <p:nvSpPr>
          <p:cNvPr id="4" name="Academic blue title accent">
            <a:extLst>
              <a:ext uri="{FF2B5EF4-FFF2-40B4-BE49-F238E27FC236}">
                <a16:creationId xmlns:a16="http://schemas.microsoft.com/office/drawing/2014/main" id="{1C589CEC-78C8-9623-9C56-313C88FA172A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ademic cyan title accent">
            <a:extLst>
              <a:ext uri="{FF2B5EF4-FFF2-40B4-BE49-F238E27FC236}">
                <a16:creationId xmlns:a16="http://schemas.microsoft.com/office/drawing/2014/main" id="{5AA45E3D-1DAE-A68B-66A0-0C256978EC4A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blue title accent">
            <a:extLst>
              <a:ext uri="{FF2B5EF4-FFF2-40B4-BE49-F238E27FC236}">
                <a16:creationId xmlns:a16="http://schemas.microsoft.com/office/drawing/2014/main" id="{74D4AB40-E2F8-D003-38D6-F1596CFA7795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cyan title accent">
            <a:extLst>
              <a:ext uri="{FF2B5EF4-FFF2-40B4-BE49-F238E27FC236}">
                <a16:creationId xmlns:a16="http://schemas.microsoft.com/office/drawing/2014/main" id="{A5C660B8-8A66-D73F-97CF-59DE68C0933C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blue title accent">
            <a:extLst>
              <a:ext uri="{FF2B5EF4-FFF2-40B4-BE49-F238E27FC236}">
                <a16:creationId xmlns:a16="http://schemas.microsoft.com/office/drawing/2014/main" id="{5AADA334-0C25-0A81-D86B-0787F7ECBCAE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cyan title accent">
            <a:extLst>
              <a:ext uri="{FF2B5EF4-FFF2-40B4-BE49-F238E27FC236}">
                <a16:creationId xmlns:a16="http://schemas.microsoft.com/office/drawing/2014/main" id="{2E3FB475-18B4-C932-634E-C2B8317E5258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blue title accent">
            <a:extLst>
              <a:ext uri="{FF2B5EF4-FFF2-40B4-BE49-F238E27FC236}">
                <a16:creationId xmlns:a16="http://schemas.microsoft.com/office/drawing/2014/main" id="{E016231B-CAF4-6F03-617B-ACB82BD1B07B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cyan title accent">
            <a:extLst>
              <a:ext uri="{FF2B5EF4-FFF2-40B4-BE49-F238E27FC236}">
                <a16:creationId xmlns:a16="http://schemas.microsoft.com/office/drawing/2014/main" id="{E2927877-E650-2BA6-646E-D61542BE8BB9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blue title accent">
            <a:extLst>
              <a:ext uri="{FF2B5EF4-FFF2-40B4-BE49-F238E27FC236}">
                <a16:creationId xmlns:a16="http://schemas.microsoft.com/office/drawing/2014/main" id="{D12BC78C-72A6-A982-CB91-608017D009F0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cyan title accent">
            <a:extLst>
              <a:ext uri="{FF2B5EF4-FFF2-40B4-BE49-F238E27FC236}">
                <a16:creationId xmlns:a16="http://schemas.microsoft.com/office/drawing/2014/main" id="{96A2A9CC-08A4-7D87-F2EC-A861972FBC31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cademic blue title accent">
            <a:extLst>
              <a:ext uri="{FF2B5EF4-FFF2-40B4-BE49-F238E27FC236}">
                <a16:creationId xmlns:a16="http://schemas.microsoft.com/office/drawing/2014/main" id="{52E3D0BD-B1F5-0E33-8774-42B3A8AF9E55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cyan title accent">
            <a:extLst>
              <a:ext uri="{FF2B5EF4-FFF2-40B4-BE49-F238E27FC236}">
                <a16:creationId xmlns:a16="http://schemas.microsoft.com/office/drawing/2014/main" id="{1CF72CEB-0573-8EEE-44F5-B007597E3819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blue title accent">
            <a:extLst>
              <a:ext uri="{FF2B5EF4-FFF2-40B4-BE49-F238E27FC236}">
                <a16:creationId xmlns:a16="http://schemas.microsoft.com/office/drawing/2014/main" id="{6F101118-B72A-3DE5-6818-25AFE59ED02C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ademic cyan title accent">
            <a:extLst>
              <a:ext uri="{FF2B5EF4-FFF2-40B4-BE49-F238E27FC236}">
                <a16:creationId xmlns:a16="http://schemas.microsoft.com/office/drawing/2014/main" id="{BC510183-6988-807E-BC30-129B6A6661FA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Content Placeholder 19" descr="A diagram of a person&amp;#39;s life&#10;&#10;AI-generated content may be incorrect.">
            <a:extLst>
              <a:ext uri="{FF2B5EF4-FFF2-40B4-BE49-F238E27FC236}">
                <a16:creationId xmlns:a16="http://schemas.microsoft.com/office/drawing/2014/main" id="{23887E7F-406F-3F64-A622-E20C9EA21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8714" y="1688791"/>
            <a:ext cx="9594573" cy="479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26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879375-AFC1-C171-5020-FA4F5C46A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E3BEB3-7504-2A8B-AE59-55B7AF00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de-CH" b="1">
                <a:solidFill>
                  <a:srgbClr val="173F5F"/>
                </a:solidFill>
                <a:latin typeface="Aptos Display"/>
              </a:rPr>
              <a:t>Model - </a:t>
            </a:r>
            <a:r>
              <a:rPr lang="de-CH" b="1" err="1">
                <a:solidFill>
                  <a:srgbClr val="173F5F"/>
                </a:solidFill>
                <a:latin typeface="Aptos Display"/>
              </a:rPr>
              <a:t>Overview</a:t>
            </a:r>
            <a:endParaRPr lang="de-CH" sz="6600"/>
          </a:p>
        </p:txBody>
      </p:sp>
      <p:sp>
        <p:nvSpPr>
          <p:cNvPr id="4" name="Academic blue title accent">
            <a:extLst>
              <a:ext uri="{FF2B5EF4-FFF2-40B4-BE49-F238E27FC236}">
                <a16:creationId xmlns:a16="http://schemas.microsoft.com/office/drawing/2014/main" id="{EAF19017-84FB-ED09-5821-D851AC152AF5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ademic cyan title accent">
            <a:extLst>
              <a:ext uri="{FF2B5EF4-FFF2-40B4-BE49-F238E27FC236}">
                <a16:creationId xmlns:a16="http://schemas.microsoft.com/office/drawing/2014/main" id="{CCFF0BD1-E788-A0B2-EB42-D52B24A48A09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blue title accent">
            <a:extLst>
              <a:ext uri="{FF2B5EF4-FFF2-40B4-BE49-F238E27FC236}">
                <a16:creationId xmlns:a16="http://schemas.microsoft.com/office/drawing/2014/main" id="{5F80EF9B-5193-4892-6F9F-11DA9D9F9CDB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cyan title accent">
            <a:extLst>
              <a:ext uri="{FF2B5EF4-FFF2-40B4-BE49-F238E27FC236}">
                <a16:creationId xmlns:a16="http://schemas.microsoft.com/office/drawing/2014/main" id="{E452D69B-F833-D69F-3F3D-7B2D667D2B56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blue title accent">
            <a:extLst>
              <a:ext uri="{FF2B5EF4-FFF2-40B4-BE49-F238E27FC236}">
                <a16:creationId xmlns:a16="http://schemas.microsoft.com/office/drawing/2014/main" id="{8FA18AF9-D33B-B857-E593-7FBFC9CDE702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cyan title accent">
            <a:extLst>
              <a:ext uri="{FF2B5EF4-FFF2-40B4-BE49-F238E27FC236}">
                <a16:creationId xmlns:a16="http://schemas.microsoft.com/office/drawing/2014/main" id="{F60C5213-88E5-6A00-FEC0-E159C9FF0B6B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blue title accent">
            <a:extLst>
              <a:ext uri="{FF2B5EF4-FFF2-40B4-BE49-F238E27FC236}">
                <a16:creationId xmlns:a16="http://schemas.microsoft.com/office/drawing/2014/main" id="{553B9D7C-CAE0-DF80-B2EA-D3191C328554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cyan title accent">
            <a:extLst>
              <a:ext uri="{FF2B5EF4-FFF2-40B4-BE49-F238E27FC236}">
                <a16:creationId xmlns:a16="http://schemas.microsoft.com/office/drawing/2014/main" id="{CB3A58E8-81F3-E877-EEAE-4AE8B5207868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blue title accent">
            <a:extLst>
              <a:ext uri="{FF2B5EF4-FFF2-40B4-BE49-F238E27FC236}">
                <a16:creationId xmlns:a16="http://schemas.microsoft.com/office/drawing/2014/main" id="{5AB62B29-6739-B34E-C200-A7989AC91B66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cyan title accent">
            <a:extLst>
              <a:ext uri="{FF2B5EF4-FFF2-40B4-BE49-F238E27FC236}">
                <a16:creationId xmlns:a16="http://schemas.microsoft.com/office/drawing/2014/main" id="{C276A825-2B83-5ABA-EAF1-29131A4AE0EB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cademic blue title accent">
            <a:extLst>
              <a:ext uri="{FF2B5EF4-FFF2-40B4-BE49-F238E27FC236}">
                <a16:creationId xmlns:a16="http://schemas.microsoft.com/office/drawing/2014/main" id="{7468A20F-1DF9-25EE-E873-90F6CACA1F7F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cyan title accent">
            <a:extLst>
              <a:ext uri="{FF2B5EF4-FFF2-40B4-BE49-F238E27FC236}">
                <a16:creationId xmlns:a16="http://schemas.microsoft.com/office/drawing/2014/main" id="{4DF140B1-7352-9D51-E0BF-2E3C7BCAA044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blue title accent">
            <a:extLst>
              <a:ext uri="{FF2B5EF4-FFF2-40B4-BE49-F238E27FC236}">
                <a16:creationId xmlns:a16="http://schemas.microsoft.com/office/drawing/2014/main" id="{0E58C629-4B1D-6200-1AFD-1491B2F5967F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ademic cyan title accent">
            <a:extLst>
              <a:ext uri="{FF2B5EF4-FFF2-40B4-BE49-F238E27FC236}">
                <a16:creationId xmlns:a16="http://schemas.microsoft.com/office/drawing/2014/main" id="{666DF0F2-C917-3C31-85AB-3F8997DCC1C8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Content Placeholder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BA3F5D-5148-4045-647C-265240893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7896" y="1689573"/>
            <a:ext cx="10409582" cy="479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004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39AC97-21AA-CFFA-1492-ADD9A6CD3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7E2CD0-C210-671A-3489-4C76F8B04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de-CH" b="1">
                <a:solidFill>
                  <a:srgbClr val="173F5F"/>
                </a:solidFill>
                <a:latin typeface="Aptos Display"/>
              </a:rPr>
              <a:t>Model - Analysis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A13D2B-0A1E-AEE2-21BA-0F9B4AAF7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11779" cy="4351338"/>
          </a:xfrm>
        </p:spPr>
        <p:txBody>
          <a:bodyPr/>
          <a:lstStyle/>
          <a:p>
            <a:r>
              <a:rPr lang="de-CH" err="1">
                <a:solidFill>
                  <a:srgbClr val="243B53"/>
                </a:solidFill>
                <a:latin typeface="Aptos"/>
              </a:rPr>
              <a:t>Numerical</a:t>
            </a:r>
            <a:r>
              <a:rPr lang="de-CH">
                <a:solidFill>
                  <a:srgbClr val="243B53"/>
                </a:solidFill>
                <a:latin typeface="Aptos"/>
              </a:rPr>
              <a:t> </a:t>
            </a:r>
            <a:r>
              <a:rPr lang="de-CH" err="1">
                <a:solidFill>
                  <a:srgbClr val="243B53"/>
                </a:solidFill>
                <a:latin typeface="Aptos"/>
              </a:rPr>
              <a:t>stability</a:t>
            </a:r>
            <a:endParaRPr lang="de-CH"/>
          </a:p>
          <a:p>
            <a:pPr lvl="1"/>
            <a:r>
              <a:rPr lang="en-US">
                <a:solidFill>
                  <a:srgbClr val="243B53"/>
                </a:solidFill>
                <a:latin typeface="Aptos"/>
              </a:rPr>
              <a:t>Euler and Runge-</a:t>
            </a:r>
            <a:r>
              <a:rPr lang="en-US" err="1">
                <a:solidFill>
                  <a:srgbClr val="243B53"/>
                </a:solidFill>
                <a:latin typeface="Aptos"/>
              </a:rPr>
              <a:t>Kutta</a:t>
            </a:r>
            <a:r>
              <a:rPr lang="en-US">
                <a:solidFill>
                  <a:srgbClr val="243B53"/>
                </a:solidFill>
                <a:latin typeface="Aptos"/>
              </a:rPr>
              <a:t> 4, different time steps (0.0625 to 1)</a:t>
            </a:r>
          </a:p>
          <a:p>
            <a:pPr lvl="1"/>
            <a:r>
              <a:rPr lang="en-US">
                <a:solidFill>
                  <a:srgbClr val="243B53"/>
                </a:solidFill>
                <a:latin typeface="Aptos"/>
              </a:rPr>
              <a:t>Historical phase is robust, projection until 2050 depends on the time step</a:t>
            </a:r>
          </a:p>
          <a:p>
            <a:pPr lvl="1"/>
            <a:endParaRPr lang="en-US"/>
          </a:p>
          <a:p>
            <a:r>
              <a:rPr lang="en-US">
                <a:solidFill>
                  <a:srgbClr val="243B53"/>
                </a:solidFill>
                <a:latin typeface="Aptos"/>
              </a:rPr>
              <a:t>Validity</a:t>
            </a:r>
          </a:p>
          <a:p>
            <a:pPr lvl="1"/>
            <a:r>
              <a:rPr lang="en-US">
                <a:solidFill>
                  <a:srgbClr val="243B53"/>
                </a:solidFill>
                <a:latin typeface="Aptos"/>
              </a:rPr>
              <a:t>Units checked with </a:t>
            </a:r>
            <a:r>
              <a:rPr lang="en-US" err="1">
                <a:solidFill>
                  <a:srgbClr val="243B53"/>
                </a:solidFill>
                <a:latin typeface="Aptos"/>
              </a:rPr>
              <a:t>Vensim</a:t>
            </a:r>
            <a:endParaRPr lang="en-US"/>
          </a:p>
          <a:p>
            <a:pPr lvl="1"/>
            <a:r>
              <a:rPr lang="en-US">
                <a:solidFill>
                  <a:srgbClr val="243B53"/>
                </a:solidFill>
                <a:latin typeface="Aptos"/>
              </a:rPr>
              <a:t>No decoupled variables</a:t>
            </a:r>
          </a:p>
          <a:p>
            <a:pPr lvl="1"/>
            <a:r>
              <a:rPr lang="en-US">
                <a:solidFill>
                  <a:srgbClr val="243B53"/>
                </a:solidFill>
                <a:latin typeface="Aptos"/>
              </a:rPr>
              <a:t>Assumptions and calibration separately</a:t>
            </a:r>
          </a:p>
          <a:p>
            <a:pPr lvl="1"/>
            <a:endParaRPr lang="en-US"/>
          </a:p>
          <a:p>
            <a:pPr lvl="1"/>
            <a:endParaRPr lang="de-CH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DC64C21-6A64-3093-3B57-AAB6470E7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806" y="1690688"/>
            <a:ext cx="4713120" cy="4112947"/>
          </a:xfrm>
          <a:prstGeom prst="rect">
            <a:avLst/>
          </a:prstGeom>
        </p:spPr>
      </p:pic>
      <p:sp>
        <p:nvSpPr>
          <p:cNvPr id="10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14023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3C90FD-2A9C-E161-8928-C5E9BA638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DA9808-A0A4-38D5-B7E9-78B201094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de-CH" b="1">
                <a:solidFill>
                  <a:srgbClr val="173F5F"/>
                </a:solidFill>
                <a:latin typeface="Aptos Display"/>
              </a:rPr>
              <a:t>Model - Analysis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A97C61-A44B-FA01-9D3B-B7FDC4027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29107" cy="4351338"/>
          </a:xfrm>
        </p:spPr>
        <p:txBody>
          <a:bodyPr/>
          <a:lstStyle/>
          <a:p>
            <a:r>
              <a:rPr lang="de-CH" err="1">
                <a:solidFill>
                  <a:srgbClr val="243B53"/>
                </a:solidFill>
                <a:latin typeface="Aptos"/>
              </a:rPr>
              <a:t>Sensitivity</a:t>
            </a:r>
            <a:endParaRPr lang="de-CH"/>
          </a:p>
          <a:p>
            <a:pPr lvl="1"/>
            <a:r>
              <a:rPr lang="en-US">
                <a:solidFill>
                  <a:srgbClr val="243B53"/>
                </a:solidFill>
                <a:latin typeface="Aptos"/>
              </a:rPr>
              <a:t>8 parameters, ±10% each, without recalibration</a:t>
            </a:r>
            <a:endParaRPr lang="de-CH"/>
          </a:p>
          <a:p>
            <a:pPr lvl="1"/>
            <a:r>
              <a:rPr lang="en-US">
                <a:solidFill>
                  <a:srgbClr val="243B53"/>
                </a:solidFill>
                <a:latin typeface="Aptos"/>
              </a:rPr>
              <a:t>Qualitative behavior is stable, but scale is sensitive</a:t>
            </a:r>
            <a:endParaRPr lang="de-CH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4F226C8-9757-B8A9-A115-21AB711C5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695" y="2576285"/>
            <a:ext cx="5204142" cy="2850017"/>
          </a:xfrm>
          <a:prstGeom prst="rect">
            <a:avLst/>
          </a:prstGeom>
        </p:spPr>
      </p:pic>
      <p:sp>
        <p:nvSpPr>
          <p:cNvPr id="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29835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0B08F-7560-9BE4-5E0B-D441D8625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57684C-C3CF-7DE1-6EE8-BA8549A5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de-CH" b="1" err="1">
                <a:solidFill>
                  <a:srgbClr val="173F5F"/>
                </a:solidFill>
                <a:latin typeface="Aptos Display"/>
              </a:rPr>
              <a:t>Results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5DA688-9A18-AFEC-EE35-C8FC84508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43880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43B53"/>
                </a:solidFill>
                <a:latin typeface="Aptos"/>
              </a:rPr>
              <a:t>Growth through 1997, decline beginning in 2000, recovery only in the model</a:t>
            </a:r>
          </a:p>
          <a:p>
            <a:r>
              <a:rPr lang="en-US">
                <a:solidFill>
                  <a:srgbClr val="243B53"/>
                </a:solidFill>
              </a:rPr>
              <a:t>Adults and young fish follow parallel trends</a:t>
            </a:r>
            <a:endParaRPr lang="de-CH"/>
          </a:p>
          <a:p>
            <a:r>
              <a:rPr lang="en-US">
                <a:solidFill>
                  <a:srgbClr val="243B53"/>
                </a:solidFill>
                <a:latin typeface="Aptos"/>
              </a:rPr>
              <a:t>Explanation in the model: </a:t>
            </a:r>
          </a:p>
          <a:p>
            <a:pPr lvl="1"/>
            <a:r>
              <a:rPr lang="en-US">
                <a:solidFill>
                  <a:srgbClr val="243B53"/>
                </a:solidFill>
                <a:latin typeface="Aptos"/>
              </a:rPr>
              <a:t>Food supply accounts for the increase and decline through 2012</a:t>
            </a:r>
          </a:p>
          <a:p>
            <a:pPr lvl="1"/>
            <a:r>
              <a:rPr lang="en-US">
                <a:solidFill>
                  <a:srgbClr val="243B53"/>
                </a:solidFill>
                <a:latin typeface="Aptos"/>
              </a:rPr>
              <a:t>Sticklebacks are an additional factor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135B01E-3E22-0F7E-4E50-D3C490997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7640" y="2349000"/>
            <a:ext cx="3240000" cy="216000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C185B58-83F0-22DA-A10F-BF4A7CA13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139" y="4590626"/>
            <a:ext cx="3240000" cy="21600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C57B6FEF-0DA2-B88B-0E55-B148A72BDE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47139" y="107374"/>
            <a:ext cx="3240000" cy="2160000"/>
          </a:xfrm>
          <a:prstGeom prst="rect">
            <a:avLst/>
          </a:prstGeom>
        </p:spPr>
      </p:pic>
      <p:sp>
        <p:nvSpPr>
          <p:cNvPr id="1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81802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69515-1AA9-AD6A-670B-95F07B44B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D6187C-87F6-3D98-77EE-61B775332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de-CH" b="1" err="1">
                <a:solidFill>
                  <a:srgbClr val="173F5F"/>
                </a:solidFill>
                <a:latin typeface="Aptos Display"/>
              </a:rPr>
              <a:t>Results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211221-C7A3-C4C8-DB9A-255C2B37E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243B53"/>
                </a:solidFill>
                <a:latin typeface="Aptos"/>
              </a:rPr>
              <a:t>H1: Reproducing the historical data</a:t>
            </a:r>
          </a:p>
          <a:p>
            <a:pPr lvl="1"/>
            <a:r>
              <a:rPr lang="en-US">
                <a:solidFill>
                  <a:srgbClr val="243B53"/>
                </a:solidFill>
                <a:latin typeface="Aptos"/>
              </a:rPr>
              <a:t>Long-term trend and timing are right, but the peaks and annual fluctuations are not</a:t>
            </a:r>
            <a:endParaRPr lang="de-CH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D3A0A4B-9AB8-E1BF-FC0B-29350224D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300" y="3113075"/>
            <a:ext cx="5184000" cy="3456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3BA93C6-7D20-2EEE-A45F-8F6CD23D1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3113075"/>
            <a:ext cx="5184000" cy="3456000"/>
          </a:xfrm>
          <a:prstGeom prst="rect">
            <a:avLst/>
          </a:prstGeom>
        </p:spPr>
      </p:pic>
      <p:sp>
        <p:nvSpPr>
          <p:cNvPr id="8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57260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8EB186-F546-C19F-61FB-F10650F1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de-CH" b="1" err="1">
                <a:solidFill>
                  <a:srgbClr val="173F5F"/>
                </a:solidFill>
                <a:latin typeface="Aptos Display"/>
              </a:rPr>
              <a:t>Results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8706F9-8C92-2F1B-2B71-94E9FFB9E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5312"/>
            <a:ext cx="5440680" cy="469265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>
                <a:solidFill>
                  <a:srgbClr val="243B53"/>
                </a:solidFill>
                <a:latin typeface="Aptos"/>
              </a:rPr>
              <a:t>H2: Fishing ban and decline of  stickleback population contribution to the whitefish stock recovery</a:t>
            </a:r>
          </a:p>
          <a:p>
            <a:r>
              <a:rPr lang="en-US">
                <a:solidFill>
                  <a:srgbClr val="243B53"/>
                </a:solidFill>
                <a:latin typeface="Aptos"/>
              </a:rPr>
              <a:t>4 scenarios were plotted:</a:t>
            </a:r>
          </a:p>
          <a:p>
            <a:pPr lvl="1"/>
            <a:r>
              <a:rPr lang="en-GB">
                <a:solidFill>
                  <a:srgbClr val="243B53"/>
                </a:solidFill>
                <a:latin typeface="Aptos"/>
              </a:rPr>
              <a:t>Ban and decline (baseline), ban only, decline only, and neither</a:t>
            </a:r>
          </a:p>
          <a:p>
            <a:pPr lvl="1"/>
            <a:r>
              <a:rPr lang="en-GB">
                <a:solidFill>
                  <a:srgbClr val="243B53"/>
                </a:solidFill>
                <a:latin typeface="Aptos"/>
              </a:rPr>
              <a:t>Each with 0 t catch and 25 t catch per year</a:t>
            </a:r>
            <a:endParaRPr lang="en-US"/>
          </a:p>
          <a:p>
            <a:r>
              <a:rPr lang="en-US">
                <a:solidFill>
                  <a:srgbClr val="243B53"/>
                </a:solidFill>
                <a:latin typeface="Aptos"/>
              </a:rPr>
              <a:t>Neither a fishing ban nor a decrease in the stickleback population is sufficient on its own; they have a synergistic effect</a:t>
            </a:r>
            <a:endParaRPr lang="de-CH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1449700-8054-F344-68C4-3401C6A96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229" y="401749"/>
            <a:ext cx="5490283" cy="2916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80EDDCE-75E9-C418-47AF-CFBBDA79B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449" y="3540251"/>
            <a:ext cx="5513063" cy="2916000"/>
          </a:xfrm>
          <a:prstGeom prst="rect">
            <a:avLst/>
          </a:prstGeom>
        </p:spPr>
      </p:pic>
      <p:sp>
        <p:nvSpPr>
          <p:cNvPr id="8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871403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1186A0-F675-8074-1F5F-1512417C1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15214B-C79F-761B-F642-F2A16B2E9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de-CH" b="1" err="1">
                <a:solidFill>
                  <a:srgbClr val="173F5F"/>
                </a:solidFill>
                <a:latin typeface="Aptos Display"/>
              </a:rPr>
              <a:t>Results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679087-3754-906F-9A3F-95059D546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871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243B53"/>
                </a:solidFill>
                <a:latin typeface="Aptos"/>
              </a:rPr>
              <a:t>H3: Calculation of the maximum annual catch from 2027 onwards to keep the stock above a reference level (50t) until 2050</a:t>
            </a:r>
          </a:p>
          <a:p>
            <a:r>
              <a:rPr lang="en-US">
                <a:solidFill>
                  <a:srgbClr val="243B53"/>
                </a:solidFill>
                <a:latin typeface="Aptos"/>
              </a:rPr>
              <a:t>Different catch limits:</a:t>
            </a:r>
          </a:p>
          <a:p>
            <a:pPr lvl="1"/>
            <a:r>
              <a:rPr lang="en-US">
                <a:solidFill>
                  <a:srgbClr val="243B53"/>
                </a:solidFill>
                <a:latin typeface="Aptos"/>
              </a:rPr>
              <a:t>Approx. 27 t per year when stickleback pressure is low</a:t>
            </a:r>
          </a:p>
          <a:p>
            <a:pPr lvl="1"/>
            <a:r>
              <a:rPr lang="en-US">
                <a:solidFill>
                  <a:srgbClr val="243B53"/>
                </a:solidFill>
                <a:latin typeface="Aptos"/>
              </a:rPr>
              <a:t>Only approx. 5 t per year if stickleback pressure increases again</a:t>
            </a:r>
            <a:endParaRPr lang="en-US"/>
          </a:p>
          <a:p>
            <a:endParaRPr lang="de-CH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18BFFCA-307D-A26E-284A-4320BB793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499" y="4226240"/>
            <a:ext cx="5394377" cy="2520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2DC1344-5074-B4DE-1C76-3576CCFE8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48" y="4226240"/>
            <a:ext cx="5794686" cy="2520000"/>
          </a:xfrm>
          <a:prstGeom prst="rect">
            <a:avLst/>
          </a:prstGeom>
        </p:spPr>
      </p:pic>
      <p:sp>
        <p:nvSpPr>
          <p:cNvPr id="8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56879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6B6A87-EE51-97E9-4EEA-6EFA11AD0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de-CH" b="1">
                <a:solidFill>
                  <a:srgbClr val="173F5F"/>
                </a:solidFill>
                <a:latin typeface="Aptos Display"/>
              </a:rPr>
              <a:t>Open </a:t>
            </a:r>
            <a:r>
              <a:rPr lang="de-CH" b="1" err="1">
                <a:solidFill>
                  <a:srgbClr val="173F5F"/>
                </a:solidFill>
                <a:latin typeface="Aptos Display"/>
              </a:rPr>
              <a:t>issues</a:t>
            </a:r>
            <a:endParaRPr lang="de-CH" b="1">
              <a:solidFill>
                <a:srgbClr val="173F5F"/>
              </a:solidFill>
              <a:latin typeface="Aptos Display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F64C21-64E0-DD7F-9E40-DA7190887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>
                <a:solidFill>
                  <a:srgbClr val="243B53"/>
                </a:solidFill>
                <a:latin typeface="Aptos"/>
              </a:rPr>
              <a:t>Water temperature not included</a:t>
            </a:r>
          </a:p>
          <a:p>
            <a:pPr lvl="1"/>
            <a:r>
              <a:rPr lang="en-US">
                <a:solidFill>
                  <a:srgbClr val="243B53"/>
                </a:solidFill>
                <a:latin typeface="Aptos"/>
              </a:rPr>
              <a:t>Scenarios through 2050 assume constant conditions </a:t>
            </a:r>
            <a:r>
              <a:rPr lang="en-US">
                <a:solidFill>
                  <a:srgbClr val="243B53"/>
                </a:solidFill>
                <a:latin typeface="Aptos" panose="020B0004020202020204" pitchFamily="34" charset="0"/>
              </a:rPr>
              <a:t>→ climate change</a:t>
            </a:r>
            <a:endParaRPr lang="en-US">
              <a:solidFill>
                <a:srgbClr val="243B53"/>
              </a:solidFill>
              <a:latin typeface="Aptos"/>
            </a:endParaRPr>
          </a:p>
          <a:p>
            <a:pPr lvl="1"/>
            <a:r>
              <a:rPr lang="en-US">
                <a:solidFill>
                  <a:srgbClr val="243B53"/>
                </a:solidFill>
                <a:latin typeface="Aptos"/>
              </a:rPr>
              <a:t>Warming could slow or accelerate recovery, the direction is uncertain</a:t>
            </a:r>
            <a:endParaRPr lang="en-GB"/>
          </a:p>
          <a:p>
            <a:r>
              <a:rPr lang="en-GB">
                <a:solidFill>
                  <a:srgbClr val="243B53"/>
                </a:solidFill>
                <a:latin typeface="Aptos"/>
              </a:rPr>
              <a:t>Other factors not included</a:t>
            </a:r>
          </a:p>
          <a:p>
            <a:pPr lvl="1"/>
            <a:r>
              <a:rPr lang="en-GB">
                <a:solidFill>
                  <a:srgbClr val="243B53"/>
                </a:solidFill>
                <a:latin typeface="Aptos"/>
              </a:rPr>
              <a:t>e.g. </a:t>
            </a:r>
            <a:r>
              <a:rPr lang="en-GB" err="1">
                <a:solidFill>
                  <a:srgbClr val="243B53"/>
                </a:solidFill>
                <a:latin typeface="Aptos"/>
              </a:rPr>
              <a:t>Quogga</a:t>
            </a:r>
            <a:r>
              <a:rPr lang="en-GB">
                <a:solidFill>
                  <a:srgbClr val="243B53"/>
                </a:solidFill>
                <a:latin typeface="Aptos"/>
              </a:rPr>
              <a:t> </a:t>
            </a:r>
            <a:r>
              <a:rPr lang="en-GB" err="1">
                <a:solidFill>
                  <a:srgbClr val="243B53"/>
                </a:solidFill>
                <a:latin typeface="Aptos"/>
              </a:rPr>
              <a:t>mussles</a:t>
            </a:r>
            <a:r>
              <a:rPr lang="en-GB">
                <a:solidFill>
                  <a:srgbClr val="243B53"/>
                </a:solidFill>
                <a:latin typeface="Aptos"/>
              </a:rPr>
              <a:t>, as a potential competition for food</a:t>
            </a:r>
          </a:p>
          <a:p>
            <a:r>
              <a:rPr lang="en-GB">
                <a:solidFill>
                  <a:srgbClr val="243B53"/>
                </a:solidFill>
                <a:latin typeface="Aptos"/>
              </a:rPr>
              <a:t>Data mainly for upper part of the lake</a:t>
            </a:r>
          </a:p>
          <a:p>
            <a:pPr marL="0" indent="0" algn="ctr">
              <a:buNone/>
            </a:pPr>
            <a:endParaRPr lang="en-GB" b="1">
              <a:solidFill>
                <a:srgbClr val="243B53"/>
              </a:solidFill>
              <a:latin typeface="Aptos"/>
            </a:endParaRPr>
          </a:p>
          <a:p>
            <a:pPr marL="0" indent="0" algn="ctr">
              <a:buNone/>
            </a:pPr>
            <a:r>
              <a:rPr lang="en-GB" b="1">
                <a:solidFill>
                  <a:srgbClr val="243B53"/>
                </a:solidFill>
                <a:latin typeface="Aptos"/>
              </a:rPr>
              <a:t>→ The m</a:t>
            </a:r>
            <a:r>
              <a:rPr lang="en-US" b="1" err="1">
                <a:solidFill>
                  <a:srgbClr val="243B53"/>
                </a:solidFill>
              </a:rPr>
              <a:t>odel</a:t>
            </a:r>
            <a:r>
              <a:rPr lang="en-US" b="1">
                <a:solidFill>
                  <a:srgbClr val="243B53"/>
                </a:solidFill>
              </a:rPr>
              <a:t> is a tool for comparing scenarios based on known drivers, but it is not a complete representation of the ecosystem</a:t>
            </a:r>
            <a:endParaRPr lang="de-CH" b="1"/>
          </a:p>
          <a:p>
            <a:endParaRPr lang="de-CH"/>
          </a:p>
        </p:txBody>
      </p:sp>
      <p:sp>
        <p:nvSpPr>
          <p:cNvPr id="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blue title accent"/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ademic cyan title accent"/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29503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2B518E-55A0-D34C-715E-2576FE7A3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C0CD1D-75FB-252B-9186-97082ED46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lang="de-CH" b="1">
                <a:solidFill>
                  <a:srgbClr val="173F5F"/>
                </a:solidFill>
                <a:latin typeface="Aptos Display"/>
              </a:rPr>
              <a:t>Q&amp;A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428941-B983-79E2-F700-279411366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9538"/>
            <a:ext cx="10515600" cy="378414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de-CH"/>
          </a:p>
          <a:p>
            <a:endParaRPr lang="de-CH"/>
          </a:p>
          <a:p>
            <a:endParaRPr lang="de-CH"/>
          </a:p>
          <a:p>
            <a:endParaRPr lang="de-CH"/>
          </a:p>
          <a:p>
            <a:pPr marL="0" indent="0">
              <a:buNone/>
            </a:pPr>
            <a:endParaRPr lang="de-CH" sz="1400"/>
          </a:p>
          <a:p>
            <a:pPr marL="0" indent="0">
              <a:buNone/>
            </a:pPr>
            <a:endParaRPr lang="de-CH" sz="1400"/>
          </a:p>
          <a:p>
            <a:pPr marL="0" indent="0">
              <a:buNone/>
            </a:pPr>
            <a:endParaRPr lang="de-CH" sz="1400"/>
          </a:p>
          <a:p>
            <a:pPr marL="0" indent="0" algn="ctr">
              <a:buNone/>
            </a:pPr>
            <a:endParaRPr lang="de-CH" sz="1400"/>
          </a:p>
          <a:p>
            <a:pPr marL="0" indent="0" algn="ctr">
              <a:buNone/>
            </a:pPr>
            <a:r>
              <a:rPr lang="de-CH" sz="1600" err="1"/>
              <a:t>Git</a:t>
            </a:r>
            <a:r>
              <a:rPr lang="de-CH" sz="1600"/>
              <a:t> Repository: </a:t>
            </a:r>
            <a:r>
              <a:rPr lang="en-GB" sz="1600" u="sng">
                <a:latin typeface="Helvetica"/>
                <a:cs typeface="Helvetica"/>
                <a:hlinkClick r:id="rId2"/>
              </a:rPr>
              <a:t>https://github.com/the-nerd-sloth/co1-semester-project</a:t>
            </a:r>
            <a:r>
              <a:rPr lang="en-GB" sz="1600">
                <a:latin typeface="Helvetica"/>
                <a:cs typeface="Helvetica"/>
              </a:rPr>
              <a:t> </a:t>
            </a:r>
            <a:endParaRPr lang="en-GB" sz="1600"/>
          </a:p>
          <a:p>
            <a:endParaRPr lang="de-CH"/>
          </a:p>
        </p:txBody>
      </p:sp>
      <p:sp>
        <p:nvSpPr>
          <p:cNvPr id="4" name="Academic blue title accent">
            <a:extLst>
              <a:ext uri="{FF2B5EF4-FFF2-40B4-BE49-F238E27FC236}">
                <a16:creationId xmlns:a16="http://schemas.microsoft.com/office/drawing/2014/main" id="{AA3F2D6B-B9C6-05BD-1B2A-C8B89898B18A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cademic cyan title accent">
            <a:extLst>
              <a:ext uri="{FF2B5EF4-FFF2-40B4-BE49-F238E27FC236}">
                <a16:creationId xmlns:a16="http://schemas.microsoft.com/office/drawing/2014/main" id="{A0595CE2-AE5F-B0CB-4960-FBEDA6DD9F43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cademic blue title accent">
            <a:extLst>
              <a:ext uri="{FF2B5EF4-FFF2-40B4-BE49-F238E27FC236}">
                <a16:creationId xmlns:a16="http://schemas.microsoft.com/office/drawing/2014/main" id="{A0768B76-DC6D-6DDE-77B8-D797C34AE21F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cademic cyan title accent">
            <a:extLst>
              <a:ext uri="{FF2B5EF4-FFF2-40B4-BE49-F238E27FC236}">
                <a16:creationId xmlns:a16="http://schemas.microsoft.com/office/drawing/2014/main" id="{B8C2F967-B772-19D1-37C5-05E37C1A4520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cademic blue title accent">
            <a:extLst>
              <a:ext uri="{FF2B5EF4-FFF2-40B4-BE49-F238E27FC236}">
                <a16:creationId xmlns:a16="http://schemas.microsoft.com/office/drawing/2014/main" id="{FD9B3B2F-9CEB-7C1C-63C0-DBD9ED5CC8E8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cademic cyan title accent">
            <a:extLst>
              <a:ext uri="{FF2B5EF4-FFF2-40B4-BE49-F238E27FC236}">
                <a16:creationId xmlns:a16="http://schemas.microsoft.com/office/drawing/2014/main" id="{4197DD13-803E-E4A4-AFC2-56407F1EB45F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cademic blue title accent">
            <a:extLst>
              <a:ext uri="{FF2B5EF4-FFF2-40B4-BE49-F238E27FC236}">
                <a16:creationId xmlns:a16="http://schemas.microsoft.com/office/drawing/2014/main" id="{4E5CB353-C381-07FC-A8BE-004C23F2D939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cademic cyan title accent">
            <a:extLst>
              <a:ext uri="{FF2B5EF4-FFF2-40B4-BE49-F238E27FC236}">
                <a16:creationId xmlns:a16="http://schemas.microsoft.com/office/drawing/2014/main" id="{09FF2E94-0B6C-6227-DF20-535BDE2B3DF2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cademic blue title accent">
            <a:extLst>
              <a:ext uri="{FF2B5EF4-FFF2-40B4-BE49-F238E27FC236}">
                <a16:creationId xmlns:a16="http://schemas.microsoft.com/office/drawing/2014/main" id="{9F786CCC-627D-0ECB-7702-9B6BD28FDD28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cademic cyan title accent">
            <a:extLst>
              <a:ext uri="{FF2B5EF4-FFF2-40B4-BE49-F238E27FC236}">
                <a16:creationId xmlns:a16="http://schemas.microsoft.com/office/drawing/2014/main" id="{E862A1CF-53C0-EC8E-5D32-D250433EAE4E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cademic blue title accent">
            <a:extLst>
              <a:ext uri="{FF2B5EF4-FFF2-40B4-BE49-F238E27FC236}">
                <a16:creationId xmlns:a16="http://schemas.microsoft.com/office/drawing/2014/main" id="{AAF739E0-FBB6-5B9C-8A06-17FE0B820605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cademic cyan title accent">
            <a:extLst>
              <a:ext uri="{FF2B5EF4-FFF2-40B4-BE49-F238E27FC236}">
                <a16:creationId xmlns:a16="http://schemas.microsoft.com/office/drawing/2014/main" id="{F02E5710-6694-83FF-8C56-4111230A5D97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cademic blue title accent">
            <a:extLst>
              <a:ext uri="{FF2B5EF4-FFF2-40B4-BE49-F238E27FC236}">
                <a16:creationId xmlns:a16="http://schemas.microsoft.com/office/drawing/2014/main" id="{86668336-8FF9-7EE3-2E10-6A89E90CAE5B}"/>
              </a:ext>
            </a:extLst>
          </p:cNvPr>
          <p:cNvSpPr/>
          <p:nvPr/>
        </p:nvSpPr>
        <p:spPr>
          <a:xfrm>
            <a:off x="838200" y="1434656"/>
            <a:ext cx="804672" cy="41148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cademic cyan title accent">
            <a:extLst>
              <a:ext uri="{FF2B5EF4-FFF2-40B4-BE49-F238E27FC236}">
                <a16:creationId xmlns:a16="http://schemas.microsoft.com/office/drawing/2014/main" id="{098FFB81-A5BE-BE74-AF98-9A785F0E4647}"/>
              </a:ext>
            </a:extLst>
          </p:cNvPr>
          <p:cNvSpPr/>
          <p:nvPr/>
        </p:nvSpPr>
        <p:spPr>
          <a:xfrm>
            <a:off x="1642872" y="1434656"/>
            <a:ext cx="237744" cy="41148"/>
          </a:xfrm>
          <a:prstGeom prst="rect">
            <a:avLst/>
          </a:prstGeom>
          <a:solidFill>
            <a:srgbClr val="56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A blue and green chat bubbles with white letters&#10;&#10;AI-generated content may be incorrect.">
            <a:extLst>
              <a:ext uri="{FF2B5EF4-FFF2-40B4-BE49-F238E27FC236}">
                <a16:creationId xmlns:a16="http://schemas.microsoft.com/office/drawing/2014/main" id="{C93AA9FF-1CCE-6E2E-5CF1-C5AC886CC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469" y="1710573"/>
            <a:ext cx="4066310" cy="406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124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Application>Microsoft Office PowerPoint</Application>
  <PresentationFormat>Widescreen</PresentationFormat>
  <Slides>23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</vt:lpstr>
      <vt:lpstr>Fish Population Dynamics in Lake Constance</vt:lpstr>
      <vt:lpstr>Model Idea</vt:lpstr>
      <vt:lpstr>Model Idea</vt:lpstr>
      <vt:lpstr>Model Idea </vt:lpstr>
      <vt:lpstr>Model boundaries </vt:lpstr>
      <vt:lpstr>Hypothesis</vt:lpstr>
      <vt:lpstr>Hypothesis</vt:lpstr>
      <vt:lpstr>Hypothesis</vt:lpstr>
      <vt:lpstr>Model - Overview</vt:lpstr>
      <vt:lpstr>Model - Overview</vt:lpstr>
      <vt:lpstr>Model - Variables</vt:lpstr>
      <vt:lpstr>Model - ODE’s</vt:lpstr>
      <vt:lpstr>Model - Overview</vt:lpstr>
      <vt:lpstr>Model - Overview</vt:lpstr>
      <vt:lpstr>Model - Overview</vt:lpstr>
      <vt:lpstr>Model - Analysis</vt:lpstr>
      <vt:lpstr>Model - Analysis</vt:lpstr>
      <vt:lpstr>Results</vt:lpstr>
      <vt:lpstr>Results</vt:lpstr>
      <vt:lpstr>Results</vt:lpstr>
      <vt:lpstr>Results</vt:lpstr>
      <vt:lpstr>Open issues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Anika Heim</dc:creator>
  <cp:revision>2</cp:revision>
  <dcterms:created xsi:type="dcterms:W3CDTF">2026-10-26T12:20:38Z</dcterms:created>
  <dcterms:modified xsi:type="dcterms:W3CDTF">2026-10-29T10:54:03Z</dcterms:modified>
</cp:coreProperties>
</file>